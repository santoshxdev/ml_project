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libri (MS) Bold" charset="1" panose="020F0702030404030204"/>
      <p:regular r:id="rId21"/>
    </p:embeddedFont>
    <p:embeddedFont>
      <p:font typeface="Calibri (MS)" charset="1" panose="020F050202020403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33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80160" y="1320165"/>
            <a:ext cx="15727680" cy="288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Customer Lifetime Value Prediction Using Elastic Net Regression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80160" y="4688205"/>
            <a:ext cx="15727680" cy="332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Subject: Machine Learning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Student Name: Santosh Kumar Bal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Roll Number: 2520030474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Student Name: T.Advik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Roll Number: 2520039623</a:t>
            </a:r>
          </a:p>
          <a:p>
            <a:pPr algn="l">
              <a:lnSpc>
                <a:spcPts val="432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640080"/>
            <a:ext cx="16093440" cy="1280160"/>
            <a:chOff x="0" y="0"/>
            <a:chExt cx="2145792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45792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97280" y="2291715"/>
            <a:ext cx="16093440" cy="703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5199" indent="-4826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Customer Lifetime Value (CLV) is the total revenue a customer is expected to bring to a business over time.</a:t>
            </a:r>
          </a:p>
          <a:p>
            <a:pPr algn="l" marL="965199" indent="-4826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Predicting CLV helps businesses identify valuable customers and plan marketing and retention.</a:t>
            </a:r>
          </a:p>
          <a:p>
            <a:pPr algn="l" marL="965199" indent="-4826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Machine Learning can learn patterns from past transactions to estimate future customer value.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640080"/>
            <a:ext cx="16093440" cy="1280160"/>
            <a:chOff x="0" y="0"/>
            <a:chExt cx="2145792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45792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97280" y="2291715"/>
            <a:ext cx="16093440" cy="703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5199" indent="-4826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Businesses store large amounts of historical transaction data.</a:t>
            </a:r>
          </a:p>
          <a:p>
            <a:pPr algn="l" marL="965199" indent="-4826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The problem: predict the future value of each customer using this historical data.</a:t>
            </a:r>
          </a:p>
          <a:p>
            <a:pPr algn="l" marL="965199" indent="-4826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Raw transactions must be converted into customer-level features before a model can be trained.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640080"/>
            <a:ext cx="16093440" cy="1280160"/>
            <a:chOff x="0" y="0"/>
            <a:chExt cx="2145792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45792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97280" y="2301240"/>
            <a:ext cx="16093440" cy="702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61721" indent="-530860" lvl="1">
              <a:lnSpc>
                <a:spcPts val="5280"/>
              </a:lnSpc>
              <a:buFont typeface="Arial"/>
              <a:buChar char="•"/>
            </a:pPr>
            <a:r>
              <a:rPr lang="en-US" sz="44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Analyze customer transaction data</a:t>
            </a:r>
          </a:p>
          <a:p>
            <a:pPr algn="l" marL="1061721" indent="-530860" lvl="1">
              <a:lnSpc>
                <a:spcPts val="5280"/>
              </a:lnSpc>
              <a:buFont typeface="Arial"/>
              <a:buChar char="•"/>
            </a:pPr>
            <a:r>
              <a:rPr lang="en-US" sz="44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Clean and preprocess the dataset</a:t>
            </a:r>
          </a:p>
          <a:p>
            <a:pPr algn="l" marL="1061721" indent="-530860" lvl="1">
              <a:lnSpc>
                <a:spcPts val="5280"/>
              </a:lnSpc>
              <a:buFont typeface="Arial"/>
              <a:buChar char="•"/>
            </a:pPr>
            <a:r>
              <a:rPr lang="en-US" sz="44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Create customer-level features</a:t>
            </a:r>
          </a:p>
          <a:p>
            <a:pPr algn="l" marL="1061721" indent="-530860" lvl="1">
              <a:lnSpc>
                <a:spcPts val="5280"/>
              </a:lnSpc>
              <a:buFont typeface="Arial"/>
              <a:buChar char="•"/>
            </a:pPr>
            <a:r>
              <a:rPr lang="en-US" sz="44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Create a future CLV target</a:t>
            </a:r>
          </a:p>
          <a:p>
            <a:pPr algn="l" marL="1061721" indent="-530860" lvl="1">
              <a:lnSpc>
                <a:spcPts val="5280"/>
              </a:lnSpc>
              <a:buFont typeface="Arial"/>
              <a:buChar char="•"/>
            </a:pPr>
            <a:r>
              <a:rPr lang="en-US" sz="44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Train an Elastic Net Regression model</a:t>
            </a:r>
          </a:p>
          <a:p>
            <a:pPr algn="l" marL="1061721" indent="-530860" lvl="1">
              <a:lnSpc>
                <a:spcPts val="5280"/>
              </a:lnSpc>
              <a:buFont typeface="Arial"/>
              <a:buChar char="•"/>
            </a:pPr>
            <a:r>
              <a:rPr lang="en-US" sz="44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Evaluate the model using regression metrics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640080"/>
            <a:ext cx="16093440" cy="1280160"/>
            <a:chOff x="0" y="0"/>
            <a:chExt cx="2145792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45792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97280" y="2291715"/>
            <a:ext cx="16093440" cy="703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5199" indent="-4826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Dataset: UCI Online Retail Dataset</a:t>
            </a:r>
          </a:p>
          <a:p>
            <a:pPr algn="l" marL="965199" indent="-4826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Source: UCI Machine Learning Repository</a:t>
            </a:r>
          </a:p>
          <a:p>
            <a:pPr algn="l" marL="965199" indent="-4826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Transaction-level retail data</a:t>
            </a:r>
          </a:p>
          <a:p>
            <a:pPr algn="l" marL="965199" indent="-4826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Key fields: InvoiceNo, Quantity, InvoiceDate, UnitPrice, CustomerID, Country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640080"/>
            <a:ext cx="16093440" cy="1280160"/>
            <a:chOff x="0" y="0"/>
            <a:chExt cx="2145792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45792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Preprocessing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97280" y="2310765"/>
            <a:ext cx="9509760" cy="701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680" indent="-43434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Remove duplicate records</a:t>
            </a:r>
          </a:p>
          <a:p>
            <a:pPr algn="l" marL="868680" indent="-43434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Handle missing CustomerID</a:t>
            </a:r>
          </a:p>
          <a:p>
            <a:pPr algn="l" marL="868680" indent="-43434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Remove cancelled transactions</a:t>
            </a:r>
          </a:p>
          <a:p>
            <a:pPr algn="l" marL="868680" indent="-43434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Remove invalid Quantity and UnitPrice values</a:t>
            </a:r>
          </a:p>
          <a:p>
            <a:pPr algn="l" marL="868680" indent="-43434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Convert InvoiceDate to date-time format</a:t>
            </a:r>
          </a:p>
          <a:p>
            <a:pPr algn="l" marL="868680" indent="-43434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Create TotalAmount = Quantity × UnitPrice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508743" y="2364743"/>
            <a:ext cx="5694683" cy="1122683"/>
            <a:chOff x="0" y="0"/>
            <a:chExt cx="7592911" cy="14969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92949" cy="1496949"/>
            </a:xfrm>
            <a:custGeom>
              <a:avLst/>
              <a:gdLst/>
              <a:ahLst/>
              <a:cxnLst/>
              <a:rect r="r" b="b" t="t" l="l"/>
              <a:pathLst>
                <a:path h="1496949" w="7592949">
                  <a:moveTo>
                    <a:pt x="0" y="0"/>
                  </a:moveTo>
                  <a:lnTo>
                    <a:pt x="7592949" y="0"/>
                  </a:lnTo>
                  <a:lnTo>
                    <a:pt x="7592949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EEF2F8"/>
            </a:solidFill>
            <a:ln w="25400" cap="sq">
              <a:solidFill>
                <a:srgbClr val="1F3864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7592911" cy="1563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Raw Dataset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521440" y="3474720"/>
            <a:ext cx="5669280" cy="548640"/>
            <a:chOff x="0" y="0"/>
            <a:chExt cx="755904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559040" cy="731520"/>
            </a:xfrm>
            <a:custGeom>
              <a:avLst/>
              <a:gdLst/>
              <a:ahLst/>
              <a:cxnLst/>
              <a:rect r="r" b="b" t="t" l="l"/>
              <a:pathLst>
                <a:path h="7315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755904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↓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508743" y="4010663"/>
            <a:ext cx="5694683" cy="1122683"/>
            <a:chOff x="0" y="0"/>
            <a:chExt cx="7592911" cy="14969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592949" cy="1496949"/>
            </a:xfrm>
            <a:custGeom>
              <a:avLst/>
              <a:gdLst/>
              <a:ahLst/>
              <a:cxnLst/>
              <a:rect r="r" b="b" t="t" l="l"/>
              <a:pathLst>
                <a:path h="1496949" w="7592949">
                  <a:moveTo>
                    <a:pt x="0" y="0"/>
                  </a:moveTo>
                  <a:lnTo>
                    <a:pt x="7592949" y="0"/>
                  </a:lnTo>
                  <a:lnTo>
                    <a:pt x="7592949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EEF2F8"/>
            </a:solidFill>
            <a:ln w="25400" cap="sq">
              <a:solidFill>
                <a:srgbClr val="1F386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7592911" cy="1563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Cleaning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521440" y="5120640"/>
            <a:ext cx="5669280" cy="548640"/>
            <a:chOff x="0" y="0"/>
            <a:chExt cx="755904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559040" cy="731520"/>
            </a:xfrm>
            <a:custGeom>
              <a:avLst/>
              <a:gdLst/>
              <a:ahLst/>
              <a:cxnLst/>
              <a:rect r="r" b="b" t="t" l="l"/>
              <a:pathLst>
                <a:path h="7315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755904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↓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508743" y="5656583"/>
            <a:ext cx="5694683" cy="1122683"/>
            <a:chOff x="0" y="0"/>
            <a:chExt cx="7592911" cy="14969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592949" cy="1496949"/>
            </a:xfrm>
            <a:custGeom>
              <a:avLst/>
              <a:gdLst/>
              <a:ahLst/>
              <a:cxnLst/>
              <a:rect r="r" b="b" t="t" l="l"/>
              <a:pathLst>
                <a:path h="1496949" w="7592949">
                  <a:moveTo>
                    <a:pt x="0" y="0"/>
                  </a:moveTo>
                  <a:lnTo>
                    <a:pt x="7592949" y="0"/>
                  </a:lnTo>
                  <a:lnTo>
                    <a:pt x="7592949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EEF2F8"/>
            </a:solidFill>
            <a:ln w="25400" cap="sq">
              <a:solidFill>
                <a:srgbClr val="1F3864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7592911" cy="1563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 Transactions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521440" y="6766560"/>
            <a:ext cx="5669280" cy="548640"/>
            <a:chOff x="0" y="0"/>
            <a:chExt cx="755904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559040" cy="731520"/>
            </a:xfrm>
            <a:custGeom>
              <a:avLst/>
              <a:gdLst/>
              <a:ahLst/>
              <a:cxnLst/>
              <a:rect r="r" b="b" t="t" l="l"/>
              <a:pathLst>
                <a:path h="7315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755904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↓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508743" y="7302503"/>
            <a:ext cx="5694683" cy="1122683"/>
            <a:chOff x="0" y="0"/>
            <a:chExt cx="7592911" cy="149691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92949" cy="1496949"/>
            </a:xfrm>
            <a:custGeom>
              <a:avLst/>
              <a:gdLst/>
              <a:ahLst/>
              <a:cxnLst/>
              <a:rect r="r" b="b" t="t" l="l"/>
              <a:pathLst>
                <a:path h="1496949" w="7592949">
                  <a:moveTo>
                    <a:pt x="0" y="0"/>
                  </a:moveTo>
                  <a:lnTo>
                    <a:pt x="7592949" y="0"/>
                  </a:lnTo>
                  <a:lnTo>
                    <a:pt x="7592949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EEF2F8"/>
            </a:solidFill>
            <a:ln w="25400" cap="sq">
              <a:solidFill>
                <a:srgbClr val="1F3864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7592911" cy="1563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Customer-Level Data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640080"/>
            <a:ext cx="16093440" cy="1280160"/>
            <a:chOff x="0" y="0"/>
            <a:chExt cx="2145792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45792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Engineering and CLV Target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97280" y="2320290"/>
            <a:ext cx="5852160" cy="6823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2161" indent="-38608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Recency</a:t>
            </a:r>
          </a:p>
          <a:p>
            <a:pPr algn="l" marL="772161" indent="-38608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Frequency</a:t>
            </a:r>
          </a:p>
          <a:p>
            <a:pPr algn="l" marL="772161" indent="-38608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Monetary Value</a:t>
            </a:r>
          </a:p>
          <a:p>
            <a:pPr algn="l" marL="772161" indent="-38608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Average Order Value</a:t>
            </a:r>
          </a:p>
          <a:p>
            <a:pPr algn="l" marL="772161" indent="-38608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Total Quantity</a:t>
            </a:r>
          </a:p>
          <a:p>
            <a:pPr algn="l" marL="772161" indent="-38608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Customer Tenure</a:t>
            </a:r>
          </a:p>
          <a:p>
            <a:pPr algn="l" marL="772161" indent="-38608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Purchase Frequency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98080" y="2310765"/>
            <a:ext cx="9692640" cy="226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2222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Target: Future CLV</a:t>
            </a:r>
          </a:p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Calculated from customer revenue during the future observation period.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399783" y="4650743"/>
            <a:ext cx="7889243" cy="939803"/>
            <a:chOff x="0" y="0"/>
            <a:chExt cx="10518991" cy="12530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51902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0519029">
                  <a:moveTo>
                    <a:pt x="0" y="0"/>
                  </a:moveTo>
                  <a:lnTo>
                    <a:pt x="10519029" y="0"/>
                  </a:lnTo>
                  <a:lnTo>
                    <a:pt x="1051902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EEF2F8"/>
            </a:solidFill>
            <a:ln w="25400" cap="sq">
              <a:solidFill>
                <a:srgbClr val="1F3864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0518991" cy="13197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Historical Transactions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412480" y="5577840"/>
            <a:ext cx="7863840" cy="402336"/>
            <a:chOff x="0" y="0"/>
            <a:chExt cx="10485120" cy="5364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85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843" r="0" b="-33084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0485120" cy="6031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↓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399783" y="5967479"/>
            <a:ext cx="7889243" cy="939803"/>
            <a:chOff x="0" y="0"/>
            <a:chExt cx="10518991" cy="12530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51902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0519029">
                  <a:moveTo>
                    <a:pt x="0" y="0"/>
                  </a:moveTo>
                  <a:lnTo>
                    <a:pt x="10519029" y="0"/>
                  </a:lnTo>
                  <a:lnTo>
                    <a:pt x="1051902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EEF2F8"/>
            </a:solidFill>
            <a:ln w="25400" cap="sq">
              <a:solidFill>
                <a:srgbClr val="1F3864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0518991" cy="13197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 Features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412480" y="6894576"/>
            <a:ext cx="7863840" cy="402336"/>
            <a:chOff x="0" y="0"/>
            <a:chExt cx="10485120" cy="5364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85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843" r="0" b="-33084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0485120" cy="6031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↓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399783" y="7284215"/>
            <a:ext cx="7889243" cy="939803"/>
            <a:chOff x="0" y="0"/>
            <a:chExt cx="10518991" cy="12530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51902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0519029">
                  <a:moveTo>
                    <a:pt x="0" y="0"/>
                  </a:moveTo>
                  <a:lnTo>
                    <a:pt x="10519029" y="0"/>
                  </a:lnTo>
                  <a:lnTo>
                    <a:pt x="1051902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EEF2F8"/>
            </a:solidFill>
            <a:ln w="25400" cap="sq">
              <a:solidFill>
                <a:srgbClr val="1F3864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0518991" cy="13197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Elastic Net Model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412480" y="8211312"/>
            <a:ext cx="7863840" cy="402336"/>
            <a:chOff x="0" y="0"/>
            <a:chExt cx="10485120" cy="5364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485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843" r="0" b="-33084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0485120" cy="6031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↓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399783" y="8600951"/>
            <a:ext cx="7889243" cy="939803"/>
            <a:chOff x="0" y="0"/>
            <a:chExt cx="10518991" cy="125307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51902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0519029">
                  <a:moveTo>
                    <a:pt x="0" y="0"/>
                  </a:moveTo>
                  <a:lnTo>
                    <a:pt x="10519029" y="0"/>
                  </a:lnTo>
                  <a:lnTo>
                    <a:pt x="1051902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EEF2F8"/>
            </a:solidFill>
            <a:ln w="25400" cap="sq">
              <a:solidFill>
                <a:srgbClr val="1F3864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10518991" cy="13197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Future CLV Prediction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640080"/>
            <a:ext cx="16093440" cy="1280160"/>
            <a:chOff x="0" y="0"/>
            <a:chExt cx="2145792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45792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Elastic Net Regression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97280" y="2291715"/>
            <a:ext cx="16093440" cy="703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5199" indent="-4826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A regularized linear regression algorithm.</a:t>
            </a:r>
          </a:p>
          <a:p>
            <a:pPr algn="l" marL="965199" indent="-4826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Combines L1 (Lasso) and L2 (Ridge) regularization.</a:t>
            </a:r>
          </a:p>
          <a:p>
            <a:pPr algn="l" marL="965199" indent="-4826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Handles correlated features and reduces overfitting.</a:t>
            </a:r>
          </a:p>
          <a:p>
            <a:pPr algn="l" marL="965199" indent="-482600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Hyperparameters alpha and l1_ratio are tuned using cross-validation.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640080"/>
            <a:ext cx="16093440" cy="1280160"/>
            <a:chOff x="0" y="0"/>
            <a:chExt cx="2145792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45792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/ ML Workflow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84583" y="2730503"/>
            <a:ext cx="3408683" cy="1854203"/>
            <a:chOff x="0" y="0"/>
            <a:chExt cx="4544911" cy="24722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44949" cy="2472309"/>
            </a:xfrm>
            <a:custGeom>
              <a:avLst/>
              <a:gdLst/>
              <a:ahLst/>
              <a:cxnLst/>
              <a:rect r="r" b="b" t="t" l="l"/>
              <a:pathLst>
                <a:path h="2472309" w="4544949">
                  <a:moveTo>
                    <a:pt x="0" y="0"/>
                  </a:moveTo>
                  <a:lnTo>
                    <a:pt x="4544949" y="0"/>
                  </a:lnTo>
                  <a:lnTo>
                    <a:pt x="4544949" y="2472309"/>
                  </a:lnTo>
                  <a:lnTo>
                    <a:pt x="0" y="2472309"/>
                  </a:lnTo>
                  <a:close/>
                </a:path>
              </a:pathLst>
            </a:custGeom>
            <a:solidFill>
              <a:srgbClr val="EEF2F8"/>
            </a:solidFill>
            <a:ln w="25400" cap="sq">
              <a:solidFill>
                <a:srgbClr val="1F3864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544911" cy="2538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Online Retail Dataset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480560" y="2743200"/>
            <a:ext cx="859536" cy="1828800"/>
            <a:chOff x="0" y="0"/>
            <a:chExt cx="1146048" cy="243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6048" cy="2438400"/>
            </a:xfrm>
            <a:custGeom>
              <a:avLst/>
              <a:gdLst/>
              <a:ahLst/>
              <a:cxnLst/>
              <a:rect r="r" b="b" t="t" l="l"/>
              <a:pathLst>
                <a:path h="2438400" w="1146048">
                  <a:moveTo>
                    <a:pt x="0" y="0"/>
                  </a:moveTo>
                  <a:lnTo>
                    <a:pt x="1146048" y="0"/>
                  </a:lnTo>
                  <a:lnTo>
                    <a:pt x="1146048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2986" t="0" r="-222986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46048" cy="2495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27399" y="2730503"/>
            <a:ext cx="3408683" cy="1854203"/>
            <a:chOff x="0" y="0"/>
            <a:chExt cx="4544911" cy="24722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44949" cy="2472309"/>
            </a:xfrm>
            <a:custGeom>
              <a:avLst/>
              <a:gdLst/>
              <a:ahLst/>
              <a:cxnLst/>
              <a:rect r="r" b="b" t="t" l="l"/>
              <a:pathLst>
                <a:path h="2472309" w="4544949">
                  <a:moveTo>
                    <a:pt x="0" y="0"/>
                  </a:moveTo>
                  <a:lnTo>
                    <a:pt x="4544949" y="0"/>
                  </a:lnTo>
                  <a:lnTo>
                    <a:pt x="4544949" y="2472309"/>
                  </a:lnTo>
                  <a:lnTo>
                    <a:pt x="0" y="2472309"/>
                  </a:lnTo>
                  <a:close/>
                </a:path>
              </a:pathLst>
            </a:custGeom>
            <a:solidFill>
              <a:srgbClr val="EEF2F8"/>
            </a:solidFill>
            <a:ln w="25400" cap="sq">
              <a:solidFill>
                <a:srgbClr val="1F3864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4544911" cy="2538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Preprocessing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723376" y="2743200"/>
            <a:ext cx="859536" cy="1828800"/>
            <a:chOff x="0" y="0"/>
            <a:chExt cx="1146048" cy="2438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46048" cy="2438400"/>
            </a:xfrm>
            <a:custGeom>
              <a:avLst/>
              <a:gdLst/>
              <a:ahLst/>
              <a:cxnLst/>
              <a:rect r="r" b="b" t="t" l="l"/>
              <a:pathLst>
                <a:path h="2438400" w="1146048">
                  <a:moveTo>
                    <a:pt x="0" y="0"/>
                  </a:moveTo>
                  <a:lnTo>
                    <a:pt x="1146048" y="0"/>
                  </a:lnTo>
                  <a:lnTo>
                    <a:pt x="1146048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2986" t="0" r="-222986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146048" cy="2495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70215" y="2730503"/>
            <a:ext cx="3408683" cy="1854203"/>
            <a:chOff x="0" y="0"/>
            <a:chExt cx="4544911" cy="24722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44949" cy="2472309"/>
            </a:xfrm>
            <a:custGeom>
              <a:avLst/>
              <a:gdLst/>
              <a:ahLst/>
              <a:cxnLst/>
              <a:rect r="r" b="b" t="t" l="l"/>
              <a:pathLst>
                <a:path h="2472309" w="4544949">
                  <a:moveTo>
                    <a:pt x="0" y="0"/>
                  </a:moveTo>
                  <a:lnTo>
                    <a:pt x="4544949" y="0"/>
                  </a:lnTo>
                  <a:lnTo>
                    <a:pt x="4544949" y="2472309"/>
                  </a:lnTo>
                  <a:lnTo>
                    <a:pt x="0" y="2472309"/>
                  </a:lnTo>
                  <a:close/>
                </a:path>
              </a:pathLst>
            </a:custGeom>
            <a:solidFill>
              <a:srgbClr val="EEF2F8"/>
            </a:solidFill>
            <a:ln w="25400" cap="sq">
              <a:solidFill>
                <a:srgbClr val="1F3864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4544911" cy="2538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 Engineering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966192" y="2743200"/>
            <a:ext cx="859536" cy="1828800"/>
            <a:chOff x="0" y="0"/>
            <a:chExt cx="1146048" cy="2438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46048" cy="2438400"/>
            </a:xfrm>
            <a:custGeom>
              <a:avLst/>
              <a:gdLst/>
              <a:ahLst/>
              <a:cxnLst/>
              <a:rect r="r" b="b" t="t" l="l"/>
              <a:pathLst>
                <a:path h="2438400" w="1146048">
                  <a:moveTo>
                    <a:pt x="0" y="0"/>
                  </a:moveTo>
                  <a:lnTo>
                    <a:pt x="1146048" y="0"/>
                  </a:lnTo>
                  <a:lnTo>
                    <a:pt x="1146048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2986" t="0" r="-222986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146048" cy="2495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813031" y="2730503"/>
            <a:ext cx="3408683" cy="1854203"/>
            <a:chOff x="0" y="0"/>
            <a:chExt cx="4544911" cy="247227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44949" cy="2472309"/>
            </a:xfrm>
            <a:custGeom>
              <a:avLst/>
              <a:gdLst/>
              <a:ahLst/>
              <a:cxnLst/>
              <a:rect r="r" b="b" t="t" l="l"/>
              <a:pathLst>
                <a:path h="2472309" w="4544949">
                  <a:moveTo>
                    <a:pt x="0" y="0"/>
                  </a:moveTo>
                  <a:lnTo>
                    <a:pt x="4544949" y="0"/>
                  </a:lnTo>
                  <a:lnTo>
                    <a:pt x="4544949" y="2472309"/>
                  </a:lnTo>
                  <a:lnTo>
                    <a:pt x="0" y="2472309"/>
                  </a:lnTo>
                  <a:close/>
                </a:path>
              </a:pathLst>
            </a:custGeom>
            <a:solidFill>
              <a:srgbClr val="EEF2F8"/>
            </a:solidFill>
            <a:ln w="25400" cap="sq">
              <a:solidFill>
                <a:srgbClr val="1F3864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4544911" cy="2538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Historical Features + Future CLV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636240" y="4572000"/>
            <a:ext cx="1554480" cy="914400"/>
            <a:chOff x="0" y="0"/>
            <a:chExt cx="2072640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72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472" t="0" r="-25472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207264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↓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84583" y="5473703"/>
            <a:ext cx="3408683" cy="1854203"/>
            <a:chOff x="0" y="0"/>
            <a:chExt cx="4544911" cy="247227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44949" cy="2472309"/>
            </a:xfrm>
            <a:custGeom>
              <a:avLst/>
              <a:gdLst/>
              <a:ahLst/>
              <a:cxnLst/>
              <a:rect r="r" b="b" t="t" l="l"/>
              <a:pathLst>
                <a:path h="2472309" w="4544949">
                  <a:moveTo>
                    <a:pt x="0" y="0"/>
                  </a:moveTo>
                  <a:lnTo>
                    <a:pt x="4544949" y="0"/>
                  </a:lnTo>
                  <a:lnTo>
                    <a:pt x="4544949" y="2472309"/>
                  </a:lnTo>
                  <a:lnTo>
                    <a:pt x="0" y="2472309"/>
                  </a:lnTo>
                  <a:close/>
                </a:path>
              </a:pathLst>
            </a:custGeom>
            <a:solidFill>
              <a:srgbClr val="EEF2F8"/>
            </a:solidFill>
            <a:ln w="25400" cap="sq">
              <a:solidFill>
                <a:srgbClr val="1F3864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4544911" cy="2538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 Evaluation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480560" y="5486400"/>
            <a:ext cx="859536" cy="1828800"/>
            <a:chOff x="0" y="0"/>
            <a:chExt cx="1146048" cy="2438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46048" cy="2438400"/>
            </a:xfrm>
            <a:custGeom>
              <a:avLst/>
              <a:gdLst/>
              <a:ahLst/>
              <a:cxnLst/>
              <a:rect r="r" b="b" t="t" l="l"/>
              <a:pathLst>
                <a:path h="2438400" w="1146048">
                  <a:moveTo>
                    <a:pt x="0" y="0"/>
                  </a:moveTo>
                  <a:lnTo>
                    <a:pt x="1146048" y="0"/>
                  </a:lnTo>
                  <a:lnTo>
                    <a:pt x="1146048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2986" t="0" r="-222986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1146048" cy="2495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←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327399" y="5473703"/>
            <a:ext cx="3408683" cy="1854203"/>
            <a:chOff x="0" y="0"/>
            <a:chExt cx="4544911" cy="247227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44949" cy="2472309"/>
            </a:xfrm>
            <a:custGeom>
              <a:avLst/>
              <a:gdLst/>
              <a:ahLst/>
              <a:cxnLst/>
              <a:rect r="r" b="b" t="t" l="l"/>
              <a:pathLst>
                <a:path h="2472309" w="4544949">
                  <a:moveTo>
                    <a:pt x="0" y="0"/>
                  </a:moveTo>
                  <a:lnTo>
                    <a:pt x="4544949" y="0"/>
                  </a:lnTo>
                  <a:lnTo>
                    <a:pt x="4544949" y="2472309"/>
                  </a:lnTo>
                  <a:lnTo>
                    <a:pt x="0" y="2472309"/>
                  </a:lnTo>
                  <a:close/>
                </a:path>
              </a:pathLst>
            </a:custGeom>
            <a:solidFill>
              <a:srgbClr val="EEF2F8"/>
            </a:solidFill>
            <a:ln w="25400" cap="sq">
              <a:solidFill>
                <a:srgbClr val="1F3864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4544911" cy="2538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CLV Prediction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723376" y="5486400"/>
            <a:ext cx="859536" cy="1828800"/>
            <a:chOff x="0" y="0"/>
            <a:chExt cx="1146048" cy="2438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46048" cy="2438400"/>
            </a:xfrm>
            <a:custGeom>
              <a:avLst/>
              <a:gdLst/>
              <a:ahLst/>
              <a:cxnLst/>
              <a:rect r="r" b="b" t="t" l="l"/>
              <a:pathLst>
                <a:path h="2438400" w="1146048">
                  <a:moveTo>
                    <a:pt x="0" y="0"/>
                  </a:moveTo>
                  <a:lnTo>
                    <a:pt x="1146048" y="0"/>
                  </a:lnTo>
                  <a:lnTo>
                    <a:pt x="1146048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2986" t="0" r="-222986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146048" cy="2495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←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570215" y="5473703"/>
            <a:ext cx="3408683" cy="1854203"/>
            <a:chOff x="0" y="0"/>
            <a:chExt cx="4544911" cy="247227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544949" cy="2472309"/>
            </a:xfrm>
            <a:custGeom>
              <a:avLst/>
              <a:gdLst/>
              <a:ahLst/>
              <a:cxnLst/>
              <a:rect r="r" b="b" t="t" l="l"/>
              <a:pathLst>
                <a:path h="2472309" w="4544949">
                  <a:moveTo>
                    <a:pt x="0" y="0"/>
                  </a:moveTo>
                  <a:lnTo>
                    <a:pt x="4544949" y="0"/>
                  </a:lnTo>
                  <a:lnTo>
                    <a:pt x="4544949" y="2472309"/>
                  </a:lnTo>
                  <a:lnTo>
                    <a:pt x="0" y="2472309"/>
                  </a:lnTo>
                  <a:close/>
                </a:path>
              </a:pathLst>
            </a:custGeom>
            <a:solidFill>
              <a:srgbClr val="EEF2F8"/>
            </a:solidFill>
            <a:ln w="25400" cap="sq">
              <a:solidFill>
                <a:srgbClr val="1F3864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4544911" cy="2538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Elastic Net Regression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966192" y="5486400"/>
            <a:ext cx="859536" cy="1828800"/>
            <a:chOff x="0" y="0"/>
            <a:chExt cx="1146048" cy="2438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46048" cy="2438400"/>
            </a:xfrm>
            <a:custGeom>
              <a:avLst/>
              <a:gdLst/>
              <a:ahLst/>
              <a:cxnLst/>
              <a:rect r="r" b="b" t="t" l="l"/>
              <a:pathLst>
                <a:path h="2438400" w="1146048">
                  <a:moveTo>
                    <a:pt x="0" y="0"/>
                  </a:moveTo>
                  <a:lnTo>
                    <a:pt x="1146048" y="0"/>
                  </a:lnTo>
                  <a:lnTo>
                    <a:pt x="1146048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2986" t="0" r="-222986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1146048" cy="2495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←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813031" y="5473703"/>
            <a:ext cx="3408683" cy="1854203"/>
            <a:chOff x="0" y="0"/>
            <a:chExt cx="4544911" cy="247227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544949" cy="2472309"/>
            </a:xfrm>
            <a:custGeom>
              <a:avLst/>
              <a:gdLst/>
              <a:ahLst/>
              <a:cxnLst/>
              <a:rect r="r" b="b" t="t" l="l"/>
              <a:pathLst>
                <a:path h="2472309" w="4544949">
                  <a:moveTo>
                    <a:pt x="0" y="0"/>
                  </a:moveTo>
                  <a:lnTo>
                    <a:pt x="4544949" y="0"/>
                  </a:lnTo>
                  <a:lnTo>
                    <a:pt x="4544949" y="2472309"/>
                  </a:lnTo>
                  <a:lnTo>
                    <a:pt x="0" y="2472309"/>
                  </a:lnTo>
                  <a:close/>
                </a:path>
              </a:pathLst>
            </a:custGeom>
            <a:solidFill>
              <a:srgbClr val="EEF2F8"/>
            </a:solidFill>
            <a:ln w="25400" cap="sq">
              <a:solidFill>
                <a:srgbClr val="1F3864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66675"/>
              <a:ext cx="4544911" cy="2538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22222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Train/Test Split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640080"/>
            <a:ext cx="16093440" cy="1280160"/>
            <a:chOff x="0" y="0"/>
            <a:chExt cx="2145792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45792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Evaluation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97280" y="2377440"/>
          <a:ext cx="16078200" cy="6350000"/>
        </p:xfrm>
        <a:graphic>
          <a:graphicData uri="http://schemas.openxmlformats.org/drawingml/2006/table">
            <a:tbl>
              <a:tblPr/>
              <a:tblGrid>
                <a:gridCol w="3747038"/>
                <a:gridCol w="12331162"/>
              </a:tblGrid>
              <a:tr h="1270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Metric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40"/>
                        </a:lnSpc>
                        <a:defRPr/>
                      </a:pPr>
                      <a:r>
                        <a:rPr lang="en-US" sz="3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Meaning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270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22222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Average absolute difference between actual and predicted CLV.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22222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Average of squared prediction errors; penalizes large errors.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22222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RMSE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Square root of MSE, in the same units as CLV.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0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22222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R² Score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>
                          <a:solidFill>
                            <a:srgbClr val="22222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Proportion of CLV variation explained by the model.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640080"/>
            <a:ext cx="16093440" cy="1280160"/>
            <a:chOff x="0" y="0"/>
            <a:chExt cx="2145792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45792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 and Future Scope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7280" y="2194560"/>
            <a:ext cx="7680960" cy="731520"/>
            <a:chOff x="0" y="0"/>
            <a:chExt cx="10241280" cy="975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41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10241280" cy="1061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97280" y="3042285"/>
            <a:ext cx="7680960" cy="6284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Transaction data can be converted into customer-level features.</a:t>
            </a:r>
          </a:p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Elastic Net Regression can predict future customer value.</a:t>
            </a:r>
          </a:p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The model helps analyze customer value from measurable behavior.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509760" y="2194560"/>
            <a:ext cx="7680960" cy="731520"/>
            <a:chOff x="0" y="0"/>
            <a:chExt cx="1024128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41280" cy="975360"/>
            </a:xfrm>
            <a:custGeom>
              <a:avLst/>
              <a:gdLst/>
              <a:ahLst/>
              <a:cxnLst/>
              <a:rect r="r" b="b" t="t" l="l"/>
              <a:pathLst>
                <a:path h="9753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10241280" cy="1061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Scope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509760" y="3042285"/>
            <a:ext cx="7680960" cy="6284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Use larger datasets</a:t>
            </a:r>
          </a:p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Add more behavioral features</a:t>
            </a:r>
          </a:p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Compare additional ML algorithms</a:t>
            </a:r>
          </a:p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Deploy as a web application</a:t>
            </a:r>
          </a:p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222222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Integrate real-time customer data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0160" y="2926080"/>
            <a:ext cx="15727680" cy="4389120"/>
            <a:chOff x="0" y="0"/>
            <a:chExt cx="20970240" cy="5852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70239" cy="5852160"/>
            </a:xfrm>
            <a:custGeom>
              <a:avLst/>
              <a:gdLst/>
              <a:ahLst/>
              <a:cxnLst/>
              <a:rect r="r" b="b" t="t" l="l"/>
              <a:pathLst>
                <a:path h="585216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5852160"/>
                  </a:lnTo>
                  <a:lnTo>
                    <a:pt x="0" y="5852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21" r="0" b="-198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0"/>
              <a:ext cx="20970240" cy="604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559"/>
                </a:lnSpc>
              </a:pPr>
              <a:r>
                <a:rPr lang="en-US" sz="8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</a:t>
              </a:r>
            </a:p>
            <a:p>
              <a:pPr algn="ctr">
                <a:lnSpc>
                  <a:spcPts val="672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DAHWgAxFfDA</dc:identifier>
  <dcterms:modified xsi:type="dcterms:W3CDTF">2011-08-01T06:04:30Z</dcterms:modified>
  <cp:revision>1</cp:revision>
  <dc:title>ML_ppt.pptx</dc:title>
</cp:coreProperties>
</file>