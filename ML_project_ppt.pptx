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9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8288000" cy="10287000"/>
  <p:notesSz cx="6858000" cy="9144000"/>
  <p:embeddedFontLst>
    <p:embeddedFont>
      <p:font typeface="Calibri (MS) Bold" charset="1" panose="020F0702030404030204"/>
      <p:regular r:id="rId22"/>
    </p:embeddedFont>
    <p:embeddedFont>
      <p:font typeface="Calibri (MS)" charset="1" panose="020F0502020204030204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notesMasters/notesMaster1.xml" Type="http://schemas.openxmlformats.org/officeDocument/2006/relationships/notesMaster"/><Relationship Id="rId2" Target="presProps.xml" Type="http://schemas.openxmlformats.org/officeDocument/2006/relationships/presProps"/><Relationship Id="rId20" Target="theme/theme2.xml" Type="http://schemas.openxmlformats.org/officeDocument/2006/relationships/theme"/><Relationship Id="rId21" Target="notesSlides/notesSlide1.xml" Type="http://schemas.openxmlformats.org/officeDocument/2006/relationships/notesSlide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notesSlides/notesSlide2.xml" Type="http://schemas.openxmlformats.org/officeDocument/2006/relationships/notesSlide"/><Relationship Id="rId25" Target="notesSlides/notesSlide3.xml" Type="http://schemas.openxmlformats.org/officeDocument/2006/relationships/notesSlide"/><Relationship Id="rId26" Target="notesSlides/notesSlide4.xml" Type="http://schemas.openxmlformats.org/officeDocument/2006/relationships/notesSlide"/><Relationship Id="rId27" Target="notesSlides/notesSlide5.xml" Type="http://schemas.openxmlformats.org/officeDocument/2006/relationships/notesSlide"/><Relationship Id="rId28" Target="notesSlides/notesSlide6.xml" Type="http://schemas.openxmlformats.org/officeDocument/2006/relationships/notesSlide"/><Relationship Id="rId29" Target="notesSlides/notesSlide7.xml" Type="http://schemas.openxmlformats.org/officeDocument/2006/relationships/notesSlide"/><Relationship Id="rId3" Target="viewProps.xml" Type="http://schemas.openxmlformats.org/officeDocument/2006/relationships/viewProps"/><Relationship Id="rId30" Target="notesSlides/notesSlide8.xml" Type="http://schemas.openxmlformats.org/officeDocument/2006/relationships/notesSlide"/><Relationship Id="rId31" Target="notesSlides/notesSlide9.xml" Type="http://schemas.openxmlformats.org/officeDocument/2006/relationships/notesSlide"/><Relationship Id="rId32" Target="notesSlides/notesSlide10.xml" Type="http://schemas.openxmlformats.org/officeDocument/2006/relationships/notesSlide"/><Relationship Id="rId33" Target="notesSlides/notesSlide11.xml" Type="http://schemas.openxmlformats.org/officeDocument/2006/relationships/notesSlide"/><Relationship Id="rId34" Target="notesSlides/notesSlide12.xml" Type="http://schemas.openxmlformats.org/officeDocument/2006/relationships/notesSlide"/><Relationship Id="rId35" Target="notesSlides/notesSlide13.xml" Type="http://schemas.openxmlformats.org/officeDocument/2006/relationships/notesSlide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png" Type="http://schemas.openxmlformats.org/officeDocument/2006/relationships/image"/><Relationship Id="rId6" Target="../media/image4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3.xml" Type="http://schemas.openxmlformats.org/officeDocument/2006/relationships/notesSlide"/><Relationship Id="rId3" Target="../media/image1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280160" y="1320165"/>
            <a:ext cx="15727680" cy="2886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79"/>
              </a:lnSpc>
            </a:pPr>
            <a:r>
              <a:rPr lang="en-US" sz="6399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Customer Lifetime Value Prediction Using Elastic Net Regression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280160" y="4688205"/>
            <a:ext cx="15727680" cy="3324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Subject: Machine Learning</a:t>
            </a:r>
          </a:p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Student Name: Santosh Kumar Bal</a:t>
            </a:r>
          </a:p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Roll Number: 2520030474</a:t>
            </a:r>
          </a:p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Student Name: T.Advik</a:t>
            </a:r>
          </a:p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Roll Number: 2520039623</a:t>
            </a:r>
          </a:p>
          <a:p>
            <a:pPr algn="l">
              <a:lnSpc>
                <a:spcPts val="4320"/>
              </a:lnSpc>
            </a:pP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7280" y="640080"/>
            <a:ext cx="16093440" cy="1280160"/>
            <a:chOff x="0" y="0"/>
            <a:chExt cx="21457920" cy="17068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457920" cy="1706880"/>
            </a:xfrm>
            <a:custGeom>
              <a:avLst/>
              <a:gdLst/>
              <a:ahLst/>
              <a:cxnLst/>
              <a:rect r="r" b="b" t="t" l="l"/>
              <a:pathLst>
                <a:path h="1706880" w="21457920">
                  <a:moveTo>
                    <a:pt x="0" y="0"/>
                  </a:moveTo>
                  <a:lnTo>
                    <a:pt x="21457920" y="0"/>
                  </a:lnTo>
                  <a:lnTo>
                    <a:pt x="21457920" y="1706880"/>
                  </a:lnTo>
                  <a:lnTo>
                    <a:pt x="0" y="17068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4954" r="0" b="-194954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23825"/>
              <a:ext cx="21457920" cy="1830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 b="true">
                  <a:solidFill>
                    <a:srgbClr val="1F386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Introduction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097280" y="2291715"/>
            <a:ext cx="16093440" cy="7035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965199" indent="-4826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Customer Lifetime Value (CLV) is the total revenue a customer is expected to bring to a business over time.</a:t>
            </a:r>
          </a:p>
          <a:p>
            <a:pPr algn="l" marL="965199" indent="-4826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Predicting CLV helps businesses identify valuable customers and plan marketing and retention.</a:t>
            </a:r>
          </a:p>
          <a:p>
            <a:pPr algn="l" marL="965199" indent="-4826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Machine Learning can learn patterns from past transactions to estimate future customer value.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7280" y="640080"/>
            <a:ext cx="16093440" cy="1280160"/>
            <a:chOff x="0" y="0"/>
            <a:chExt cx="21457920" cy="17068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457920" cy="1706880"/>
            </a:xfrm>
            <a:custGeom>
              <a:avLst/>
              <a:gdLst/>
              <a:ahLst/>
              <a:cxnLst/>
              <a:rect r="r" b="b" t="t" l="l"/>
              <a:pathLst>
                <a:path h="1706880" w="21457920">
                  <a:moveTo>
                    <a:pt x="0" y="0"/>
                  </a:moveTo>
                  <a:lnTo>
                    <a:pt x="21457920" y="0"/>
                  </a:lnTo>
                  <a:lnTo>
                    <a:pt x="21457920" y="1706880"/>
                  </a:lnTo>
                  <a:lnTo>
                    <a:pt x="0" y="17068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4954" r="0" b="-194954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23825"/>
              <a:ext cx="21457920" cy="1830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 b="true">
                  <a:solidFill>
                    <a:srgbClr val="1F386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097280" y="2291715"/>
            <a:ext cx="16093440" cy="7035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965199" indent="-4826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Businesses store large amounts of historical transaction data.</a:t>
            </a:r>
          </a:p>
          <a:p>
            <a:pPr algn="l" marL="965199" indent="-4826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The problem: predict the future value of each customer using this historical data.</a:t>
            </a:r>
          </a:p>
          <a:p>
            <a:pPr algn="l" marL="965199" indent="-4826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Raw transactions must be converted into customer-level features before a model can be trained.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7280" y="640080"/>
            <a:ext cx="16093440" cy="1280160"/>
            <a:chOff x="0" y="0"/>
            <a:chExt cx="21457920" cy="17068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457920" cy="1706880"/>
            </a:xfrm>
            <a:custGeom>
              <a:avLst/>
              <a:gdLst/>
              <a:ahLst/>
              <a:cxnLst/>
              <a:rect r="r" b="b" t="t" l="l"/>
              <a:pathLst>
                <a:path h="1706880" w="21457920">
                  <a:moveTo>
                    <a:pt x="0" y="0"/>
                  </a:moveTo>
                  <a:lnTo>
                    <a:pt x="21457920" y="0"/>
                  </a:lnTo>
                  <a:lnTo>
                    <a:pt x="21457920" y="1706880"/>
                  </a:lnTo>
                  <a:lnTo>
                    <a:pt x="0" y="17068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4954" r="0" b="-194954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23825"/>
              <a:ext cx="21457920" cy="1830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 b="true">
                  <a:solidFill>
                    <a:srgbClr val="1F386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Objectives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097280" y="2301240"/>
            <a:ext cx="16093440" cy="7025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61721" indent="-530860" lvl="1">
              <a:lnSpc>
                <a:spcPts val="5280"/>
              </a:lnSpc>
              <a:buFont typeface="Arial"/>
              <a:buChar char="•"/>
            </a:pPr>
            <a:r>
              <a:rPr lang="en-US" sz="4400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Analyze customer transaction data</a:t>
            </a:r>
          </a:p>
          <a:p>
            <a:pPr algn="l" marL="1061721" indent="-530860" lvl="1">
              <a:lnSpc>
                <a:spcPts val="5280"/>
              </a:lnSpc>
              <a:buFont typeface="Arial"/>
              <a:buChar char="•"/>
            </a:pPr>
            <a:r>
              <a:rPr lang="en-US" sz="4400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Clean and preprocess the dataset</a:t>
            </a:r>
          </a:p>
          <a:p>
            <a:pPr algn="l" marL="1061721" indent="-530860" lvl="1">
              <a:lnSpc>
                <a:spcPts val="5280"/>
              </a:lnSpc>
              <a:buFont typeface="Arial"/>
              <a:buChar char="•"/>
            </a:pPr>
            <a:r>
              <a:rPr lang="en-US" sz="4400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Create customer-level features</a:t>
            </a:r>
          </a:p>
          <a:p>
            <a:pPr algn="l" marL="1061721" indent="-530860" lvl="1">
              <a:lnSpc>
                <a:spcPts val="5280"/>
              </a:lnSpc>
              <a:buFont typeface="Arial"/>
              <a:buChar char="•"/>
            </a:pPr>
            <a:r>
              <a:rPr lang="en-US" sz="4400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Create a future CLV target</a:t>
            </a:r>
          </a:p>
          <a:p>
            <a:pPr algn="l" marL="1061721" indent="-530860" lvl="1">
              <a:lnSpc>
                <a:spcPts val="5280"/>
              </a:lnSpc>
              <a:buFont typeface="Arial"/>
              <a:buChar char="•"/>
            </a:pPr>
            <a:r>
              <a:rPr lang="en-US" sz="4400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Train an Elastic Net Regression model</a:t>
            </a:r>
          </a:p>
          <a:p>
            <a:pPr algn="l" marL="1061721" indent="-530860" lvl="1">
              <a:lnSpc>
                <a:spcPts val="5280"/>
              </a:lnSpc>
              <a:buFont typeface="Arial"/>
              <a:buChar char="•"/>
            </a:pPr>
            <a:r>
              <a:rPr lang="en-US" sz="4400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Evaluate the model using regression metrics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7280" y="640080"/>
            <a:ext cx="16093440" cy="1280160"/>
            <a:chOff x="0" y="0"/>
            <a:chExt cx="21457920" cy="17068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457920" cy="1706880"/>
            </a:xfrm>
            <a:custGeom>
              <a:avLst/>
              <a:gdLst/>
              <a:ahLst/>
              <a:cxnLst/>
              <a:rect r="r" b="b" t="t" l="l"/>
              <a:pathLst>
                <a:path h="1706880" w="21457920">
                  <a:moveTo>
                    <a:pt x="0" y="0"/>
                  </a:moveTo>
                  <a:lnTo>
                    <a:pt x="21457920" y="0"/>
                  </a:lnTo>
                  <a:lnTo>
                    <a:pt x="21457920" y="1706880"/>
                  </a:lnTo>
                  <a:lnTo>
                    <a:pt x="0" y="17068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4954" r="0" b="-194954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23825"/>
              <a:ext cx="21457920" cy="1830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 b="true">
                  <a:solidFill>
                    <a:srgbClr val="1F386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Dataset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097280" y="2291715"/>
            <a:ext cx="16093440" cy="7035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965199" indent="-4826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Dataset: UCI Online Retail Dataset</a:t>
            </a:r>
          </a:p>
          <a:p>
            <a:pPr algn="l" marL="965199" indent="-4826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Source: UCI Machine Learning Repository</a:t>
            </a:r>
          </a:p>
          <a:p>
            <a:pPr algn="l" marL="965199" indent="-4826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Transaction-level retail data</a:t>
            </a:r>
          </a:p>
          <a:p>
            <a:pPr algn="l" marL="965199" indent="-4826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Key fields: InvoiceNo, Quantity, InvoiceDate, UnitPrice, CustomerID, Country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7280" y="640080"/>
            <a:ext cx="16093440" cy="1280160"/>
            <a:chOff x="0" y="0"/>
            <a:chExt cx="21457920" cy="17068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457920" cy="1706880"/>
            </a:xfrm>
            <a:custGeom>
              <a:avLst/>
              <a:gdLst/>
              <a:ahLst/>
              <a:cxnLst/>
              <a:rect r="r" b="b" t="t" l="l"/>
              <a:pathLst>
                <a:path h="1706880" w="21457920">
                  <a:moveTo>
                    <a:pt x="0" y="0"/>
                  </a:moveTo>
                  <a:lnTo>
                    <a:pt x="21457920" y="0"/>
                  </a:lnTo>
                  <a:lnTo>
                    <a:pt x="21457920" y="1706880"/>
                  </a:lnTo>
                  <a:lnTo>
                    <a:pt x="0" y="17068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4954" r="0" b="-194954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23825"/>
              <a:ext cx="21457920" cy="1830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 b="true">
                  <a:solidFill>
                    <a:srgbClr val="1F386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Data Preprocessing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097280" y="2310765"/>
            <a:ext cx="9509760" cy="7016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68680" indent="-434340" lvl="1">
              <a:lnSpc>
                <a:spcPts val="4320"/>
              </a:lnSpc>
              <a:buFont typeface="Arial"/>
              <a:buChar char="•"/>
            </a:pPr>
            <a:r>
              <a:rPr lang="en-US" sz="3600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Remove duplicate records</a:t>
            </a:r>
          </a:p>
          <a:p>
            <a:pPr algn="l" marL="868680" indent="-434340" lvl="1">
              <a:lnSpc>
                <a:spcPts val="4320"/>
              </a:lnSpc>
              <a:buFont typeface="Arial"/>
              <a:buChar char="•"/>
            </a:pPr>
            <a:r>
              <a:rPr lang="en-US" sz="3600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Handle missing CustomerID</a:t>
            </a:r>
          </a:p>
          <a:p>
            <a:pPr algn="l" marL="868680" indent="-434340" lvl="1">
              <a:lnSpc>
                <a:spcPts val="4320"/>
              </a:lnSpc>
              <a:buFont typeface="Arial"/>
              <a:buChar char="•"/>
            </a:pPr>
            <a:r>
              <a:rPr lang="en-US" sz="3600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Remove cancelled transactions</a:t>
            </a:r>
          </a:p>
          <a:p>
            <a:pPr algn="l" marL="868680" indent="-434340" lvl="1">
              <a:lnSpc>
                <a:spcPts val="4320"/>
              </a:lnSpc>
              <a:buFont typeface="Arial"/>
              <a:buChar char="•"/>
            </a:pPr>
            <a:r>
              <a:rPr lang="en-US" sz="3600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Remove invalid Quantity and UnitPrice values</a:t>
            </a:r>
          </a:p>
          <a:p>
            <a:pPr algn="l" marL="868680" indent="-434340" lvl="1">
              <a:lnSpc>
                <a:spcPts val="4320"/>
              </a:lnSpc>
              <a:buFont typeface="Arial"/>
              <a:buChar char="•"/>
            </a:pPr>
            <a:r>
              <a:rPr lang="en-US" sz="3600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Convert InvoiceDate to date-time format</a:t>
            </a:r>
          </a:p>
          <a:p>
            <a:pPr algn="l" marL="868680" indent="-434340" lvl="1">
              <a:lnSpc>
                <a:spcPts val="4320"/>
              </a:lnSpc>
              <a:buFont typeface="Arial"/>
              <a:buChar char="•"/>
            </a:pPr>
            <a:r>
              <a:rPr lang="en-US" sz="3600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Create TotalAmount = Quantity × UnitPrice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508743" y="2364743"/>
            <a:ext cx="5694683" cy="1122683"/>
            <a:chOff x="0" y="0"/>
            <a:chExt cx="7592911" cy="149691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592949" cy="1496949"/>
            </a:xfrm>
            <a:custGeom>
              <a:avLst/>
              <a:gdLst/>
              <a:ahLst/>
              <a:cxnLst/>
              <a:rect r="r" b="b" t="t" l="l"/>
              <a:pathLst>
                <a:path h="1496949" w="7592949">
                  <a:moveTo>
                    <a:pt x="0" y="0"/>
                  </a:moveTo>
                  <a:lnTo>
                    <a:pt x="7592949" y="0"/>
                  </a:lnTo>
                  <a:lnTo>
                    <a:pt x="7592949" y="1496949"/>
                  </a:lnTo>
                  <a:lnTo>
                    <a:pt x="0" y="1496949"/>
                  </a:lnTo>
                  <a:close/>
                </a:path>
              </a:pathLst>
            </a:custGeom>
            <a:solidFill>
              <a:srgbClr val="EEF2F8"/>
            </a:solidFill>
            <a:ln w="25400" cap="sq">
              <a:solidFill>
                <a:srgbClr val="1F3864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66675"/>
              <a:ext cx="7592911" cy="15635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22222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Raw Dataset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1521440" y="3474720"/>
            <a:ext cx="5669280" cy="548640"/>
            <a:chOff x="0" y="0"/>
            <a:chExt cx="7559040" cy="73152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559040" cy="731520"/>
            </a:xfrm>
            <a:custGeom>
              <a:avLst/>
              <a:gdLst/>
              <a:ahLst/>
              <a:cxnLst/>
              <a:rect r="r" b="b" t="t" l="l"/>
              <a:pathLst>
                <a:path h="731520" w="7559040">
                  <a:moveTo>
                    <a:pt x="0" y="0"/>
                  </a:moveTo>
                  <a:lnTo>
                    <a:pt x="7559040" y="0"/>
                  </a:lnTo>
                  <a:lnTo>
                    <a:pt x="75590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1345" r="0" b="-151345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66675"/>
              <a:ext cx="7559040" cy="7981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359"/>
                </a:lnSpc>
              </a:pPr>
              <a:r>
                <a:rPr lang="en-US" sz="2799" b="true">
                  <a:solidFill>
                    <a:srgbClr val="1F386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↓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1508743" y="4010663"/>
            <a:ext cx="5694683" cy="1122683"/>
            <a:chOff x="0" y="0"/>
            <a:chExt cx="7592911" cy="1496911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592949" cy="1496949"/>
            </a:xfrm>
            <a:custGeom>
              <a:avLst/>
              <a:gdLst/>
              <a:ahLst/>
              <a:cxnLst/>
              <a:rect r="r" b="b" t="t" l="l"/>
              <a:pathLst>
                <a:path h="1496949" w="7592949">
                  <a:moveTo>
                    <a:pt x="0" y="0"/>
                  </a:moveTo>
                  <a:lnTo>
                    <a:pt x="7592949" y="0"/>
                  </a:lnTo>
                  <a:lnTo>
                    <a:pt x="7592949" y="1496949"/>
                  </a:lnTo>
                  <a:lnTo>
                    <a:pt x="0" y="1496949"/>
                  </a:lnTo>
                  <a:close/>
                </a:path>
              </a:pathLst>
            </a:custGeom>
            <a:solidFill>
              <a:srgbClr val="EEF2F8"/>
            </a:solidFill>
            <a:ln w="25400" cap="sq">
              <a:solidFill>
                <a:srgbClr val="1F3864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66675"/>
              <a:ext cx="7592911" cy="15635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22222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Data Cleaning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1521440" y="5120640"/>
            <a:ext cx="5669280" cy="548640"/>
            <a:chOff x="0" y="0"/>
            <a:chExt cx="7559040" cy="7315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559040" cy="731520"/>
            </a:xfrm>
            <a:custGeom>
              <a:avLst/>
              <a:gdLst/>
              <a:ahLst/>
              <a:cxnLst/>
              <a:rect r="r" b="b" t="t" l="l"/>
              <a:pathLst>
                <a:path h="731520" w="7559040">
                  <a:moveTo>
                    <a:pt x="0" y="0"/>
                  </a:moveTo>
                  <a:lnTo>
                    <a:pt x="7559040" y="0"/>
                  </a:lnTo>
                  <a:lnTo>
                    <a:pt x="75590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1345" r="0" b="-151345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66675"/>
              <a:ext cx="7559040" cy="7981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359"/>
                </a:lnSpc>
              </a:pPr>
              <a:r>
                <a:rPr lang="en-US" sz="2799" b="true">
                  <a:solidFill>
                    <a:srgbClr val="1F386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↓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1508743" y="5656583"/>
            <a:ext cx="5694683" cy="1122683"/>
            <a:chOff x="0" y="0"/>
            <a:chExt cx="7592911" cy="1496911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7592949" cy="1496949"/>
            </a:xfrm>
            <a:custGeom>
              <a:avLst/>
              <a:gdLst/>
              <a:ahLst/>
              <a:cxnLst/>
              <a:rect r="r" b="b" t="t" l="l"/>
              <a:pathLst>
                <a:path h="1496949" w="7592949">
                  <a:moveTo>
                    <a:pt x="0" y="0"/>
                  </a:moveTo>
                  <a:lnTo>
                    <a:pt x="7592949" y="0"/>
                  </a:lnTo>
                  <a:lnTo>
                    <a:pt x="7592949" y="1496949"/>
                  </a:lnTo>
                  <a:lnTo>
                    <a:pt x="0" y="1496949"/>
                  </a:lnTo>
                  <a:close/>
                </a:path>
              </a:pathLst>
            </a:custGeom>
            <a:solidFill>
              <a:srgbClr val="EEF2F8"/>
            </a:solidFill>
            <a:ln w="25400" cap="sq">
              <a:solidFill>
                <a:srgbClr val="1F3864"/>
              </a:solidFill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66675"/>
              <a:ext cx="7592911" cy="15635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22222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Valid Transactions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1521440" y="6766560"/>
            <a:ext cx="5669280" cy="548640"/>
            <a:chOff x="0" y="0"/>
            <a:chExt cx="7559040" cy="7315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559040" cy="731520"/>
            </a:xfrm>
            <a:custGeom>
              <a:avLst/>
              <a:gdLst/>
              <a:ahLst/>
              <a:cxnLst/>
              <a:rect r="r" b="b" t="t" l="l"/>
              <a:pathLst>
                <a:path h="731520" w="7559040">
                  <a:moveTo>
                    <a:pt x="0" y="0"/>
                  </a:moveTo>
                  <a:lnTo>
                    <a:pt x="7559040" y="0"/>
                  </a:lnTo>
                  <a:lnTo>
                    <a:pt x="75590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1345" r="0" b="-151345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66675"/>
              <a:ext cx="7559040" cy="7981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359"/>
                </a:lnSpc>
              </a:pPr>
              <a:r>
                <a:rPr lang="en-US" sz="2799" b="true">
                  <a:solidFill>
                    <a:srgbClr val="1F386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↓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1508743" y="7302503"/>
            <a:ext cx="5694683" cy="1122683"/>
            <a:chOff x="0" y="0"/>
            <a:chExt cx="7592911" cy="1496911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592949" cy="1496949"/>
            </a:xfrm>
            <a:custGeom>
              <a:avLst/>
              <a:gdLst/>
              <a:ahLst/>
              <a:cxnLst/>
              <a:rect r="r" b="b" t="t" l="l"/>
              <a:pathLst>
                <a:path h="1496949" w="7592949">
                  <a:moveTo>
                    <a:pt x="0" y="0"/>
                  </a:moveTo>
                  <a:lnTo>
                    <a:pt x="7592949" y="0"/>
                  </a:lnTo>
                  <a:lnTo>
                    <a:pt x="7592949" y="1496949"/>
                  </a:lnTo>
                  <a:lnTo>
                    <a:pt x="0" y="1496949"/>
                  </a:lnTo>
                  <a:close/>
                </a:path>
              </a:pathLst>
            </a:custGeom>
            <a:solidFill>
              <a:srgbClr val="EEF2F8"/>
            </a:solidFill>
            <a:ln w="25400" cap="sq">
              <a:solidFill>
                <a:srgbClr val="1F3864"/>
              </a:solidFill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66675"/>
              <a:ext cx="7592911" cy="15635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22222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Customer-Level Data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7280" y="640080"/>
            <a:ext cx="16093440" cy="1280160"/>
            <a:chOff x="0" y="0"/>
            <a:chExt cx="21457920" cy="17068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457920" cy="1706880"/>
            </a:xfrm>
            <a:custGeom>
              <a:avLst/>
              <a:gdLst/>
              <a:ahLst/>
              <a:cxnLst/>
              <a:rect r="r" b="b" t="t" l="l"/>
              <a:pathLst>
                <a:path h="1706880" w="21457920">
                  <a:moveTo>
                    <a:pt x="0" y="0"/>
                  </a:moveTo>
                  <a:lnTo>
                    <a:pt x="21457920" y="0"/>
                  </a:lnTo>
                  <a:lnTo>
                    <a:pt x="21457920" y="1706880"/>
                  </a:lnTo>
                  <a:lnTo>
                    <a:pt x="0" y="17068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4954" r="0" b="-194954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23825"/>
              <a:ext cx="21457920" cy="1830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 b="true">
                  <a:solidFill>
                    <a:srgbClr val="1F386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Feature Engineering and CLV Target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097280" y="2320290"/>
            <a:ext cx="5852160" cy="6823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72161" indent="-386080" lvl="1">
              <a:lnSpc>
                <a:spcPts val="3840"/>
              </a:lnSpc>
              <a:buFont typeface="Arial"/>
              <a:buChar char="•"/>
            </a:pPr>
            <a:r>
              <a:rPr lang="en-US" sz="3200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Recency</a:t>
            </a:r>
          </a:p>
          <a:p>
            <a:pPr algn="l" marL="772161" indent="-386080" lvl="1">
              <a:lnSpc>
                <a:spcPts val="3840"/>
              </a:lnSpc>
              <a:buFont typeface="Arial"/>
              <a:buChar char="•"/>
            </a:pPr>
            <a:r>
              <a:rPr lang="en-US" sz="3200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Frequency</a:t>
            </a:r>
          </a:p>
          <a:p>
            <a:pPr algn="l" marL="772161" indent="-386080" lvl="1">
              <a:lnSpc>
                <a:spcPts val="3840"/>
              </a:lnSpc>
              <a:buFont typeface="Arial"/>
              <a:buChar char="•"/>
            </a:pPr>
            <a:r>
              <a:rPr lang="en-US" sz="3200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Monetary Value</a:t>
            </a:r>
          </a:p>
          <a:p>
            <a:pPr algn="l" marL="772161" indent="-386080" lvl="1">
              <a:lnSpc>
                <a:spcPts val="3840"/>
              </a:lnSpc>
              <a:buFont typeface="Arial"/>
              <a:buChar char="•"/>
            </a:pPr>
            <a:r>
              <a:rPr lang="en-US" sz="3200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Average Order Value</a:t>
            </a:r>
          </a:p>
          <a:p>
            <a:pPr algn="l" marL="772161" indent="-386080" lvl="1">
              <a:lnSpc>
                <a:spcPts val="3840"/>
              </a:lnSpc>
              <a:buFont typeface="Arial"/>
              <a:buChar char="•"/>
            </a:pPr>
            <a:r>
              <a:rPr lang="en-US" sz="3200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Total Quantity</a:t>
            </a:r>
          </a:p>
          <a:p>
            <a:pPr algn="l" marL="772161" indent="-386080" lvl="1">
              <a:lnSpc>
                <a:spcPts val="3840"/>
              </a:lnSpc>
              <a:buFont typeface="Arial"/>
              <a:buChar char="•"/>
            </a:pPr>
            <a:r>
              <a:rPr lang="en-US" sz="3200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Customer Tenure</a:t>
            </a:r>
          </a:p>
          <a:p>
            <a:pPr algn="l" marL="772161" indent="-386080" lvl="1">
              <a:lnSpc>
                <a:spcPts val="3840"/>
              </a:lnSpc>
              <a:buFont typeface="Arial"/>
              <a:buChar char="•"/>
            </a:pPr>
            <a:r>
              <a:rPr lang="en-US" sz="3200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Purchase Frequency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498080" y="2310765"/>
            <a:ext cx="9692640" cy="2261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true">
                <a:solidFill>
                  <a:srgbClr val="222222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Target: Future CLV</a:t>
            </a:r>
          </a:p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Calculated from customer revenue during the future observation period.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8399783" y="4650743"/>
            <a:ext cx="7889243" cy="939803"/>
            <a:chOff x="0" y="0"/>
            <a:chExt cx="10518991" cy="125307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519029" cy="1253109"/>
            </a:xfrm>
            <a:custGeom>
              <a:avLst/>
              <a:gdLst/>
              <a:ahLst/>
              <a:cxnLst/>
              <a:rect r="r" b="b" t="t" l="l"/>
              <a:pathLst>
                <a:path h="1253109" w="10519029">
                  <a:moveTo>
                    <a:pt x="0" y="0"/>
                  </a:moveTo>
                  <a:lnTo>
                    <a:pt x="10519029" y="0"/>
                  </a:lnTo>
                  <a:lnTo>
                    <a:pt x="10519029" y="1253109"/>
                  </a:lnTo>
                  <a:lnTo>
                    <a:pt x="0" y="1253109"/>
                  </a:lnTo>
                  <a:close/>
                </a:path>
              </a:pathLst>
            </a:custGeom>
            <a:solidFill>
              <a:srgbClr val="EEF2F8"/>
            </a:solidFill>
            <a:ln w="25400" cap="sq">
              <a:solidFill>
                <a:srgbClr val="1F3864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66675"/>
              <a:ext cx="10518991" cy="131974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sz="2799">
                  <a:solidFill>
                    <a:srgbClr val="22222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Historical Transactions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8412480" y="5577840"/>
            <a:ext cx="7863840" cy="402336"/>
            <a:chOff x="0" y="0"/>
            <a:chExt cx="10485120" cy="53644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485120" cy="536448"/>
            </a:xfrm>
            <a:custGeom>
              <a:avLst/>
              <a:gdLst/>
              <a:ahLst/>
              <a:cxnLst/>
              <a:rect r="r" b="b" t="t" l="l"/>
              <a:pathLst>
                <a:path h="536448" w="10485120">
                  <a:moveTo>
                    <a:pt x="0" y="0"/>
                  </a:moveTo>
                  <a:lnTo>
                    <a:pt x="10485120" y="0"/>
                  </a:lnTo>
                  <a:lnTo>
                    <a:pt x="10485120" y="536448"/>
                  </a:lnTo>
                  <a:lnTo>
                    <a:pt x="0" y="5364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0843" r="0" b="-330843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66675"/>
              <a:ext cx="10485120" cy="60312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359"/>
                </a:lnSpc>
              </a:pPr>
              <a:r>
                <a:rPr lang="en-US" sz="2799" b="true">
                  <a:solidFill>
                    <a:srgbClr val="1F386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↓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399783" y="5967479"/>
            <a:ext cx="7889243" cy="939803"/>
            <a:chOff x="0" y="0"/>
            <a:chExt cx="10518991" cy="125307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519029" cy="1253109"/>
            </a:xfrm>
            <a:custGeom>
              <a:avLst/>
              <a:gdLst/>
              <a:ahLst/>
              <a:cxnLst/>
              <a:rect r="r" b="b" t="t" l="l"/>
              <a:pathLst>
                <a:path h="1253109" w="10519029">
                  <a:moveTo>
                    <a:pt x="0" y="0"/>
                  </a:moveTo>
                  <a:lnTo>
                    <a:pt x="10519029" y="0"/>
                  </a:lnTo>
                  <a:lnTo>
                    <a:pt x="10519029" y="1253109"/>
                  </a:lnTo>
                  <a:lnTo>
                    <a:pt x="0" y="1253109"/>
                  </a:lnTo>
                  <a:close/>
                </a:path>
              </a:pathLst>
            </a:custGeom>
            <a:solidFill>
              <a:srgbClr val="EEF2F8"/>
            </a:solidFill>
            <a:ln w="25400" cap="sq">
              <a:solidFill>
                <a:srgbClr val="1F3864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66675"/>
              <a:ext cx="10518991" cy="131974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sz="2799">
                  <a:solidFill>
                    <a:srgbClr val="22222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Customer Features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8412480" y="6894576"/>
            <a:ext cx="7863840" cy="402336"/>
            <a:chOff x="0" y="0"/>
            <a:chExt cx="10485120" cy="53644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485120" cy="536448"/>
            </a:xfrm>
            <a:custGeom>
              <a:avLst/>
              <a:gdLst/>
              <a:ahLst/>
              <a:cxnLst/>
              <a:rect r="r" b="b" t="t" l="l"/>
              <a:pathLst>
                <a:path h="536448" w="10485120">
                  <a:moveTo>
                    <a:pt x="0" y="0"/>
                  </a:moveTo>
                  <a:lnTo>
                    <a:pt x="10485120" y="0"/>
                  </a:lnTo>
                  <a:lnTo>
                    <a:pt x="10485120" y="536448"/>
                  </a:lnTo>
                  <a:lnTo>
                    <a:pt x="0" y="5364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0843" r="0" b="-330843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66675"/>
              <a:ext cx="10485120" cy="60312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359"/>
                </a:lnSpc>
              </a:pPr>
              <a:r>
                <a:rPr lang="en-US" sz="2799" b="true">
                  <a:solidFill>
                    <a:srgbClr val="1F386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↓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8399783" y="7284215"/>
            <a:ext cx="7889243" cy="939803"/>
            <a:chOff x="0" y="0"/>
            <a:chExt cx="10518991" cy="125307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519029" cy="1253109"/>
            </a:xfrm>
            <a:custGeom>
              <a:avLst/>
              <a:gdLst/>
              <a:ahLst/>
              <a:cxnLst/>
              <a:rect r="r" b="b" t="t" l="l"/>
              <a:pathLst>
                <a:path h="1253109" w="10519029">
                  <a:moveTo>
                    <a:pt x="0" y="0"/>
                  </a:moveTo>
                  <a:lnTo>
                    <a:pt x="10519029" y="0"/>
                  </a:lnTo>
                  <a:lnTo>
                    <a:pt x="10519029" y="1253109"/>
                  </a:lnTo>
                  <a:lnTo>
                    <a:pt x="0" y="1253109"/>
                  </a:lnTo>
                  <a:close/>
                </a:path>
              </a:pathLst>
            </a:custGeom>
            <a:solidFill>
              <a:srgbClr val="EEF2F8"/>
            </a:solidFill>
            <a:ln w="25400" cap="sq">
              <a:solidFill>
                <a:srgbClr val="1F3864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66675"/>
              <a:ext cx="10518991" cy="131974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sz="2799">
                  <a:solidFill>
                    <a:srgbClr val="22222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Elastic Net Model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8412480" y="8211312"/>
            <a:ext cx="7863840" cy="402336"/>
            <a:chOff x="0" y="0"/>
            <a:chExt cx="10485120" cy="53644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485120" cy="536448"/>
            </a:xfrm>
            <a:custGeom>
              <a:avLst/>
              <a:gdLst/>
              <a:ahLst/>
              <a:cxnLst/>
              <a:rect r="r" b="b" t="t" l="l"/>
              <a:pathLst>
                <a:path h="536448" w="10485120">
                  <a:moveTo>
                    <a:pt x="0" y="0"/>
                  </a:moveTo>
                  <a:lnTo>
                    <a:pt x="10485120" y="0"/>
                  </a:lnTo>
                  <a:lnTo>
                    <a:pt x="10485120" y="536448"/>
                  </a:lnTo>
                  <a:lnTo>
                    <a:pt x="0" y="5364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0843" r="0" b="-330843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66675"/>
              <a:ext cx="10485120" cy="60312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359"/>
                </a:lnSpc>
              </a:pPr>
              <a:r>
                <a:rPr lang="en-US" sz="2799" b="true">
                  <a:solidFill>
                    <a:srgbClr val="1F386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↓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8399783" y="8600951"/>
            <a:ext cx="7889243" cy="939803"/>
            <a:chOff x="0" y="0"/>
            <a:chExt cx="10518991" cy="1253071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519029" cy="1253109"/>
            </a:xfrm>
            <a:custGeom>
              <a:avLst/>
              <a:gdLst/>
              <a:ahLst/>
              <a:cxnLst/>
              <a:rect r="r" b="b" t="t" l="l"/>
              <a:pathLst>
                <a:path h="1253109" w="10519029">
                  <a:moveTo>
                    <a:pt x="0" y="0"/>
                  </a:moveTo>
                  <a:lnTo>
                    <a:pt x="10519029" y="0"/>
                  </a:lnTo>
                  <a:lnTo>
                    <a:pt x="10519029" y="1253109"/>
                  </a:lnTo>
                  <a:lnTo>
                    <a:pt x="0" y="1253109"/>
                  </a:lnTo>
                  <a:close/>
                </a:path>
              </a:pathLst>
            </a:custGeom>
            <a:solidFill>
              <a:srgbClr val="EEF2F8"/>
            </a:solidFill>
            <a:ln w="25400" cap="sq">
              <a:solidFill>
                <a:srgbClr val="1F3864"/>
              </a:solidFill>
              <a:prstDash val="solid"/>
              <a:miter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66675"/>
              <a:ext cx="10518991" cy="131974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sz="2799">
                  <a:solidFill>
                    <a:srgbClr val="22222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Future CLV Prediction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7280" y="640080"/>
            <a:ext cx="16093440" cy="1280160"/>
            <a:chOff x="0" y="0"/>
            <a:chExt cx="21457920" cy="17068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457920" cy="1706880"/>
            </a:xfrm>
            <a:custGeom>
              <a:avLst/>
              <a:gdLst/>
              <a:ahLst/>
              <a:cxnLst/>
              <a:rect r="r" b="b" t="t" l="l"/>
              <a:pathLst>
                <a:path h="1706880" w="21457920">
                  <a:moveTo>
                    <a:pt x="0" y="0"/>
                  </a:moveTo>
                  <a:lnTo>
                    <a:pt x="21457920" y="0"/>
                  </a:lnTo>
                  <a:lnTo>
                    <a:pt x="21457920" y="1706880"/>
                  </a:lnTo>
                  <a:lnTo>
                    <a:pt x="0" y="17068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4954" r="0" b="-194954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23825"/>
              <a:ext cx="21457920" cy="1830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 b="true">
                  <a:solidFill>
                    <a:srgbClr val="1F386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Elastic Net Regression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097280" y="2291715"/>
            <a:ext cx="16093440" cy="7035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965199" indent="-4826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A regularized linear regression algorithm.</a:t>
            </a:r>
          </a:p>
          <a:p>
            <a:pPr algn="l" marL="965199" indent="-4826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Combines L1 (Lasso) and L2 (Ridge) regularization.</a:t>
            </a:r>
          </a:p>
          <a:p>
            <a:pPr algn="l" marL="965199" indent="-4826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Handles correlated features and reduces overfitting.</a:t>
            </a:r>
          </a:p>
          <a:p>
            <a:pPr algn="l" marL="965199" indent="-4826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Hyperparameters alpha and l1_ratio are tuned using cross-validation.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7280" y="640080"/>
            <a:ext cx="16093440" cy="1280160"/>
            <a:chOff x="0" y="0"/>
            <a:chExt cx="21457920" cy="17068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457920" cy="1706880"/>
            </a:xfrm>
            <a:custGeom>
              <a:avLst/>
              <a:gdLst/>
              <a:ahLst/>
              <a:cxnLst/>
              <a:rect r="r" b="b" t="t" l="l"/>
              <a:pathLst>
                <a:path h="1706880" w="21457920">
                  <a:moveTo>
                    <a:pt x="0" y="0"/>
                  </a:moveTo>
                  <a:lnTo>
                    <a:pt x="21457920" y="0"/>
                  </a:lnTo>
                  <a:lnTo>
                    <a:pt x="21457920" y="1706880"/>
                  </a:lnTo>
                  <a:lnTo>
                    <a:pt x="0" y="17068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4954" r="0" b="-194954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23825"/>
              <a:ext cx="21457920" cy="1830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 b="true">
                  <a:solidFill>
                    <a:srgbClr val="1F386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System / ML Workflow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84583" y="2730503"/>
            <a:ext cx="3408683" cy="1854203"/>
            <a:chOff x="0" y="0"/>
            <a:chExt cx="4544911" cy="247227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544949" cy="2472309"/>
            </a:xfrm>
            <a:custGeom>
              <a:avLst/>
              <a:gdLst/>
              <a:ahLst/>
              <a:cxnLst/>
              <a:rect r="r" b="b" t="t" l="l"/>
              <a:pathLst>
                <a:path h="2472309" w="4544949">
                  <a:moveTo>
                    <a:pt x="0" y="0"/>
                  </a:moveTo>
                  <a:lnTo>
                    <a:pt x="4544949" y="0"/>
                  </a:lnTo>
                  <a:lnTo>
                    <a:pt x="4544949" y="2472309"/>
                  </a:lnTo>
                  <a:lnTo>
                    <a:pt x="0" y="2472309"/>
                  </a:lnTo>
                  <a:close/>
                </a:path>
              </a:pathLst>
            </a:custGeom>
            <a:solidFill>
              <a:srgbClr val="EEF2F8"/>
            </a:solidFill>
            <a:ln w="25400" cap="sq">
              <a:solidFill>
                <a:srgbClr val="1F3864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66675"/>
              <a:ext cx="4544911" cy="253894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sz="2799">
                  <a:solidFill>
                    <a:srgbClr val="22222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Online Retail Dataset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4480560" y="2743200"/>
            <a:ext cx="859536" cy="1828800"/>
            <a:chOff x="0" y="0"/>
            <a:chExt cx="1146048" cy="24384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46048" cy="2438400"/>
            </a:xfrm>
            <a:custGeom>
              <a:avLst/>
              <a:gdLst/>
              <a:ahLst/>
              <a:cxnLst/>
              <a:rect r="r" b="b" t="t" l="l"/>
              <a:pathLst>
                <a:path h="2438400" w="1146048">
                  <a:moveTo>
                    <a:pt x="0" y="0"/>
                  </a:moveTo>
                  <a:lnTo>
                    <a:pt x="1146048" y="0"/>
                  </a:lnTo>
                  <a:lnTo>
                    <a:pt x="1146048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22986" t="0" r="-222986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146048" cy="24955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840"/>
                </a:lnSpc>
              </a:pPr>
              <a:r>
                <a:rPr lang="en-US" sz="3200" b="true">
                  <a:solidFill>
                    <a:srgbClr val="1F386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327399" y="2730503"/>
            <a:ext cx="3408683" cy="1854203"/>
            <a:chOff x="0" y="0"/>
            <a:chExt cx="4544911" cy="247227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544949" cy="2472309"/>
            </a:xfrm>
            <a:custGeom>
              <a:avLst/>
              <a:gdLst/>
              <a:ahLst/>
              <a:cxnLst/>
              <a:rect r="r" b="b" t="t" l="l"/>
              <a:pathLst>
                <a:path h="2472309" w="4544949">
                  <a:moveTo>
                    <a:pt x="0" y="0"/>
                  </a:moveTo>
                  <a:lnTo>
                    <a:pt x="4544949" y="0"/>
                  </a:lnTo>
                  <a:lnTo>
                    <a:pt x="4544949" y="2472309"/>
                  </a:lnTo>
                  <a:lnTo>
                    <a:pt x="0" y="2472309"/>
                  </a:lnTo>
                  <a:close/>
                </a:path>
              </a:pathLst>
            </a:custGeom>
            <a:solidFill>
              <a:srgbClr val="EEF2F8"/>
            </a:solidFill>
            <a:ln w="25400" cap="sq">
              <a:solidFill>
                <a:srgbClr val="1F3864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66675"/>
              <a:ext cx="4544911" cy="253894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sz="2799">
                  <a:solidFill>
                    <a:srgbClr val="22222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Data Preprocessing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723376" y="2743200"/>
            <a:ext cx="859536" cy="1828800"/>
            <a:chOff x="0" y="0"/>
            <a:chExt cx="1146048" cy="24384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146048" cy="2438400"/>
            </a:xfrm>
            <a:custGeom>
              <a:avLst/>
              <a:gdLst/>
              <a:ahLst/>
              <a:cxnLst/>
              <a:rect r="r" b="b" t="t" l="l"/>
              <a:pathLst>
                <a:path h="2438400" w="1146048">
                  <a:moveTo>
                    <a:pt x="0" y="0"/>
                  </a:moveTo>
                  <a:lnTo>
                    <a:pt x="1146048" y="0"/>
                  </a:lnTo>
                  <a:lnTo>
                    <a:pt x="1146048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22986" t="0" r="-222986" b="0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57150"/>
              <a:ext cx="1146048" cy="24955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840"/>
                </a:lnSpc>
              </a:pPr>
              <a:r>
                <a:rPr lang="en-US" sz="3200" b="true">
                  <a:solidFill>
                    <a:srgbClr val="1F386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570215" y="2730503"/>
            <a:ext cx="3408683" cy="1854203"/>
            <a:chOff x="0" y="0"/>
            <a:chExt cx="4544911" cy="247227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544949" cy="2472309"/>
            </a:xfrm>
            <a:custGeom>
              <a:avLst/>
              <a:gdLst/>
              <a:ahLst/>
              <a:cxnLst/>
              <a:rect r="r" b="b" t="t" l="l"/>
              <a:pathLst>
                <a:path h="2472309" w="4544949">
                  <a:moveTo>
                    <a:pt x="0" y="0"/>
                  </a:moveTo>
                  <a:lnTo>
                    <a:pt x="4544949" y="0"/>
                  </a:lnTo>
                  <a:lnTo>
                    <a:pt x="4544949" y="2472309"/>
                  </a:lnTo>
                  <a:lnTo>
                    <a:pt x="0" y="2472309"/>
                  </a:lnTo>
                  <a:close/>
                </a:path>
              </a:pathLst>
            </a:custGeom>
            <a:solidFill>
              <a:srgbClr val="EEF2F8"/>
            </a:solidFill>
            <a:ln w="25400" cap="sq">
              <a:solidFill>
                <a:srgbClr val="1F3864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66675"/>
              <a:ext cx="4544911" cy="253894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sz="2799">
                  <a:solidFill>
                    <a:srgbClr val="22222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Feature Engineering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2966192" y="2743200"/>
            <a:ext cx="859536" cy="1828800"/>
            <a:chOff x="0" y="0"/>
            <a:chExt cx="1146048" cy="24384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146048" cy="2438400"/>
            </a:xfrm>
            <a:custGeom>
              <a:avLst/>
              <a:gdLst/>
              <a:ahLst/>
              <a:cxnLst/>
              <a:rect r="r" b="b" t="t" l="l"/>
              <a:pathLst>
                <a:path h="2438400" w="1146048">
                  <a:moveTo>
                    <a:pt x="0" y="0"/>
                  </a:moveTo>
                  <a:lnTo>
                    <a:pt x="1146048" y="0"/>
                  </a:lnTo>
                  <a:lnTo>
                    <a:pt x="1146048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22986" t="0" r="-222986" b="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1146048" cy="24955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840"/>
                </a:lnSpc>
              </a:pPr>
              <a:r>
                <a:rPr lang="en-US" sz="3200" b="true">
                  <a:solidFill>
                    <a:srgbClr val="1F386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3813031" y="2730503"/>
            <a:ext cx="3408683" cy="1854203"/>
            <a:chOff x="0" y="0"/>
            <a:chExt cx="4544911" cy="2472271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4544949" cy="2472309"/>
            </a:xfrm>
            <a:custGeom>
              <a:avLst/>
              <a:gdLst/>
              <a:ahLst/>
              <a:cxnLst/>
              <a:rect r="r" b="b" t="t" l="l"/>
              <a:pathLst>
                <a:path h="2472309" w="4544949">
                  <a:moveTo>
                    <a:pt x="0" y="0"/>
                  </a:moveTo>
                  <a:lnTo>
                    <a:pt x="4544949" y="0"/>
                  </a:lnTo>
                  <a:lnTo>
                    <a:pt x="4544949" y="2472309"/>
                  </a:lnTo>
                  <a:lnTo>
                    <a:pt x="0" y="2472309"/>
                  </a:lnTo>
                  <a:close/>
                </a:path>
              </a:pathLst>
            </a:custGeom>
            <a:solidFill>
              <a:srgbClr val="EEF2F8"/>
            </a:solidFill>
            <a:ln w="25400" cap="sq">
              <a:solidFill>
                <a:srgbClr val="1F3864"/>
              </a:solidFill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66675"/>
              <a:ext cx="4544911" cy="253894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sz="2799">
                  <a:solidFill>
                    <a:srgbClr val="22222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Historical Features + Future CLV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5636240" y="4572000"/>
            <a:ext cx="1554480" cy="914400"/>
            <a:chOff x="0" y="0"/>
            <a:chExt cx="2072640" cy="12192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072640" cy="1219200"/>
            </a:xfrm>
            <a:custGeom>
              <a:avLst/>
              <a:gdLst/>
              <a:ahLst/>
              <a:cxnLst/>
              <a:rect r="r" b="b" t="t" l="l"/>
              <a:pathLst>
                <a:path h="1219200" w="2072640">
                  <a:moveTo>
                    <a:pt x="0" y="0"/>
                  </a:moveTo>
                  <a:lnTo>
                    <a:pt x="2072640" y="0"/>
                  </a:lnTo>
                  <a:lnTo>
                    <a:pt x="207264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5472" t="0" r="-25472" b="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57150"/>
              <a:ext cx="2072640" cy="1276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840"/>
                </a:lnSpc>
              </a:pPr>
              <a:r>
                <a:rPr lang="en-US" sz="3200" b="true">
                  <a:solidFill>
                    <a:srgbClr val="1F386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↓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084583" y="5473703"/>
            <a:ext cx="3408683" cy="1854203"/>
            <a:chOff x="0" y="0"/>
            <a:chExt cx="4544911" cy="2472271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4544949" cy="2472309"/>
            </a:xfrm>
            <a:custGeom>
              <a:avLst/>
              <a:gdLst/>
              <a:ahLst/>
              <a:cxnLst/>
              <a:rect r="r" b="b" t="t" l="l"/>
              <a:pathLst>
                <a:path h="2472309" w="4544949">
                  <a:moveTo>
                    <a:pt x="0" y="0"/>
                  </a:moveTo>
                  <a:lnTo>
                    <a:pt x="4544949" y="0"/>
                  </a:lnTo>
                  <a:lnTo>
                    <a:pt x="4544949" y="2472309"/>
                  </a:lnTo>
                  <a:lnTo>
                    <a:pt x="0" y="2472309"/>
                  </a:lnTo>
                  <a:close/>
                </a:path>
              </a:pathLst>
            </a:custGeom>
            <a:solidFill>
              <a:srgbClr val="EEF2F8"/>
            </a:solidFill>
            <a:ln w="25400" cap="sq">
              <a:solidFill>
                <a:srgbClr val="1F3864"/>
              </a:solidFill>
              <a:prstDash val="solid"/>
              <a:miter/>
            </a:ln>
          </p:spPr>
        </p:sp>
        <p:sp>
          <p:nvSpPr>
            <p:cNvPr name="TextBox 31" id="31"/>
            <p:cNvSpPr txBox="true"/>
            <p:nvPr/>
          </p:nvSpPr>
          <p:spPr>
            <a:xfrm>
              <a:off x="0" y="-66675"/>
              <a:ext cx="4544911" cy="253894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sz="2799">
                  <a:solidFill>
                    <a:srgbClr val="22222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Model Evaluation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4480560" y="5486400"/>
            <a:ext cx="859536" cy="1828800"/>
            <a:chOff x="0" y="0"/>
            <a:chExt cx="1146048" cy="24384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146048" cy="2438400"/>
            </a:xfrm>
            <a:custGeom>
              <a:avLst/>
              <a:gdLst/>
              <a:ahLst/>
              <a:cxnLst/>
              <a:rect r="r" b="b" t="t" l="l"/>
              <a:pathLst>
                <a:path h="2438400" w="1146048">
                  <a:moveTo>
                    <a:pt x="0" y="0"/>
                  </a:moveTo>
                  <a:lnTo>
                    <a:pt x="1146048" y="0"/>
                  </a:lnTo>
                  <a:lnTo>
                    <a:pt x="1146048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22986" t="0" r="-222986" b="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57150"/>
              <a:ext cx="1146048" cy="24955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840"/>
                </a:lnSpc>
              </a:pPr>
              <a:r>
                <a:rPr lang="en-US" sz="3200" b="true">
                  <a:solidFill>
                    <a:srgbClr val="1F386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←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5327399" y="5473703"/>
            <a:ext cx="3408683" cy="1854203"/>
            <a:chOff x="0" y="0"/>
            <a:chExt cx="4544911" cy="2472271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4544949" cy="2472309"/>
            </a:xfrm>
            <a:custGeom>
              <a:avLst/>
              <a:gdLst/>
              <a:ahLst/>
              <a:cxnLst/>
              <a:rect r="r" b="b" t="t" l="l"/>
              <a:pathLst>
                <a:path h="2472309" w="4544949">
                  <a:moveTo>
                    <a:pt x="0" y="0"/>
                  </a:moveTo>
                  <a:lnTo>
                    <a:pt x="4544949" y="0"/>
                  </a:lnTo>
                  <a:lnTo>
                    <a:pt x="4544949" y="2472309"/>
                  </a:lnTo>
                  <a:lnTo>
                    <a:pt x="0" y="2472309"/>
                  </a:lnTo>
                  <a:close/>
                </a:path>
              </a:pathLst>
            </a:custGeom>
            <a:solidFill>
              <a:srgbClr val="EEF2F8"/>
            </a:solidFill>
            <a:ln w="25400" cap="sq">
              <a:solidFill>
                <a:srgbClr val="1F3864"/>
              </a:solidFill>
              <a:prstDash val="solid"/>
              <a:miter/>
            </a:ln>
          </p:spPr>
        </p:sp>
        <p:sp>
          <p:nvSpPr>
            <p:cNvPr name="TextBox 37" id="37"/>
            <p:cNvSpPr txBox="true"/>
            <p:nvPr/>
          </p:nvSpPr>
          <p:spPr>
            <a:xfrm>
              <a:off x="0" y="-66675"/>
              <a:ext cx="4544911" cy="253894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sz="2799">
                  <a:solidFill>
                    <a:srgbClr val="22222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CLV Prediction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8723376" y="5486400"/>
            <a:ext cx="859536" cy="1828800"/>
            <a:chOff x="0" y="0"/>
            <a:chExt cx="1146048" cy="24384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146048" cy="2438400"/>
            </a:xfrm>
            <a:custGeom>
              <a:avLst/>
              <a:gdLst/>
              <a:ahLst/>
              <a:cxnLst/>
              <a:rect r="r" b="b" t="t" l="l"/>
              <a:pathLst>
                <a:path h="2438400" w="1146048">
                  <a:moveTo>
                    <a:pt x="0" y="0"/>
                  </a:moveTo>
                  <a:lnTo>
                    <a:pt x="1146048" y="0"/>
                  </a:lnTo>
                  <a:lnTo>
                    <a:pt x="1146048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22986" t="0" r="-222986" b="0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57150"/>
              <a:ext cx="1146048" cy="24955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840"/>
                </a:lnSpc>
              </a:pPr>
              <a:r>
                <a:rPr lang="en-US" sz="3200" b="true">
                  <a:solidFill>
                    <a:srgbClr val="1F386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←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9570215" y="5473703"/>
            <a:ext cx="3408683" cy="1854203"/>
            <a:chOff x="0" y="0"/>
            <a:chExt cx="4544911" cy="2472271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4544949" cy="2472309"/>
            </a:xfrm>
            <a:custGeom>
              <a:avLst/>
              <a:gdLst/>
              <a:ahLst/>
              <a:cxnLst/>
              <a:rect r="r" b="b" t="t" l="l"/>
              <a:pathLst>
                <a:path h="2472309" w="4544949">
                  <a:moveTo>
                    <a:pt x="0" y="0"/>
                  </a:moveTo>
                  <a:lnTo>
                    <a:pt x="4544949" y="0"/>
                  </a:lnTo>
                  <a:lnTo>
                    <a:pt x="4544949" y="2472309"/>
                  </a:lnTo>
                  <a:lnTo>
                    <a:pt x="0" y="2472309"/>
                  </a:lnTo>
                  <a:close/>
                </a:path>
              </a:pathLst>
            </a:custGeom>
            <a:solidFill>
              <a:srgbClr val="EEF2F8"/>
            </a:solidFill>
            <a:ln w="25400" cap="sq">
              <a:solidFill>
                <a:srgbClr val="1F3864"/>
              </a:solidFill>
              <a:prstDash val="solid"/>
              <a:miter/>
            </a:ln>
          </p:spPr>
        </p:sp>
        <p:sp>
          <p:nvSpPr>
            <p:cNvPr name="TextBox 43" id="43"/>
            <p:cNvSpPr txBox="true"/>
            <p:nvPr/>
          </p:nvSpPr>
          <p:spPr>
            <a:xfrm>
              <a:off x="0" y="-66675"/>
              <a:ext cx="4544911" cy="253894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sz="2799">
                  <a:solidFill>
                    <a:srgbClr val="22222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Elastic Net Regression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2966192" y="5486400"/>
            <a:ext cx="859536" cy="1828800"/>
            <a:chOff x="0" y="0"/>
            <a:chExt cx="1146048" cy="24384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146048" cy="2438400"/>
            </a:xfrm>
            <a:custGeom>
              <a:avLst/>
              <a:gdLst/>
              <a:ahLst/>
              <a:cxnLst/>
              <a:rect r="r" b="b" t="t" l="l"/>
              <a:pathLst>
                <a:path h="2438400" w="1146048">
                  <a:moveTo>
                    <a:pt x="0" y="0"/>
                  </a:moveTo>
                  <a:lnTo>
                    <a:pt x="1146048" y="0"/>
                  </a:lnTo>
                  <a:lnTo>
                    <a:pt x="1146048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22986" t="0" r="-222986" b="0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57150"/>
              <a:ext cx="1146048" cy="24955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840"/>
                </a:lnSpc>
              </a:pPr>
              <a:r>
                <a:rPr lang="en-US" sz="3200" b="true">
                  <a:solidFill>
                    <a:srgbClr val="1F386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←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3813031" y="5473703"/>
            <a:ext cx="3408683" cy="1854203"/>
            <a:chOff x="0" y="0"/>
            <a:chExt cx="4544911" cy="2472271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544949" cy="2472309"/>
            </a:xfrm>
            <a:custGeom>
              <a:avLst/>
              <a:gdLst/>
              <a:ahLst/>
              <a:cxnLst/>
              <a:rect r="r" b="b" t="t" l="l"/>
              <a:pathLst>
                <a:path h="2472309" w="4544949">
                  <a:moveTo>
                    <a:pt x="0" y="0"/>
                  </a:moveTo>
                  <a:lnTo>
                    <a:pt x="4544949" y="0"/>
                  </a:lnTo>
                  <a:lnTo>
                    <a:pt x="4544949" y="2472309"/>
                  </a:lnTo>
                  <a:lnTo>
                    <a:pt x="0" y="2472309"/>
                  </a:lnTo>
                  <a:close/>
                </a:path>
              </a:pathLst>
            </a:custGeom>
            <a:solidFill>
              <a:srgbClr val="EEF2F8"/>
            </a:solidFill>
            <a:ln w="25400" cap="sq">
              <a:solidFill>
                <a:srgbClr val="1F3864"/>
              </a:solidFill>
              <a:prstDash val="solid"/>
              <a:miter/>
            </a:ln>
          </p:spPr>
        </p:sp>
        <p:sp>
          <p:nvSpPr>
            <p:cNvPr name="TextBox 49" id="49"/>
            <p:cNvSpPr txBox="true"/>
            <p:nvPr/>
          </p:nvSpPr>
          <p:spPr>
            <a:xfrm>
              <a:off x="0" y="-66675"/>
              <a:ext cx="4544911" cy="253894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sz="2799">
                  <a:solidFill>
                    <a:srgbClr val="22222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Train/Test Split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7280" y="640080"/>
            <a:ext cx="16093440" cy="1280160"/>
            <a:chOff x="0" y="0"/>
            <a:chExt cx="21457920" cy="17068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457920" cy="1706880"/>
            </a:xfrm>
            <a:custGeom>
              <a:avLst/>
              <a:gdLst/>
              <a:ahLst/>
              <a:cxnLst/>
              <a:rect r="r" b="b" t="t" l="l"/>
              <a:pathLst>
                <a:path h="1706880" w="21457920">
                  <a:moveTo>
                    <a:pt x="0" y="0"/>
                  </a:moveTo>
                  <a:lnTo>
                    <a:pt x="21457920" y="0"/>
                  </a:lnTo>
                  <a:lnTo>
                    <a:pt x="21457920" y="1706880"/>
                  </a:lnTo>
                  <a:lnTo>
                    <a:pt x="0" y="17068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4954" r="0" b="-194954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23825"/>
              <a:ext cx="21457920" cy="1830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 b="true">
                  <a:solidFill>
                    <a:srgbClr val="1F386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Model Evaluation</a:t>
              </a:r>
            </a:p>
          </p:txBody>
        </p:sp>
      </p:grpSp>
      <p:graphicFrame>
        <p:nvGraphicFramePr>
          <p:cNvPr name="Table 5" id="5"/>
          <p:cNvGraphicFramePr>
            <a:graphicFrameLocks noGrp="true"/>
          </p:cNvGraphicFramePr>
          <p:nvPr/>
        </p:nvGraphicFramePr>
        <p:xfrm>
          <a:off x="1097280" y="2377440"/>
          <a:ext cx="16078200" cy="6350000"/>
        </p:xfrm>
        <a:graphic>
          <a:graphicData uri="http://schemas.openxmlformats.org/drawingml/2006/table">
            <a:tbl>
              <a:tblPr/>
              <a:tblGrid>
                <a:gridCol w="3747038"/>
                <a:gridCol w="12331162"/>
              </a:tblGrid>
              <a:tr h="12700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840"/>
                        </a:lnSpc>
                        <a:defRPr/>
                      </a:pPr>
                      <a:r>
                        <a:rPr lang="en-US" sz="3200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Metric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840"/>
                        </a:lnSpc>
                        <a:defRPr/>
                      </a:pPr>
                      <a:r>
                        <a:rPr lang="en-US" sz="3200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Meaning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12700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600"/>
                        </a:lnSpc>
                        <a:defRPr/>
                      </a:pPr>
                      <a:r>
                        <a:rPr lang="en-US" sz="3000" b="true">
                          <a:solidFill>
                            <a:srgbClr val="222222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MAE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600"/>
                        </a:lnSpc>
                        <a:defRPr/>
                      </a:pPr>
                      <a:r>
                        <a:rPr lang="en-US" sz="3000">
                          <a:solidFill>
                            <a:srgbClr val="222222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Average absolute difference between actual and predicted CLV.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600"/>
                        </a:lnSpc>
                        <a:defRPr/>
                      </a:pPr>
                      <a:r>
                        <a:rPr lang="en-US" sz="3000" b="true">
                          <a:solidFill>
                            <a:srgbClr val="222222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MSE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600"/>
                        </a:lnSpc>
                        <a:defRPr/>
                      </a:pPr>
                      <a:r>
                        <a:rPr lang="en-US" sz="3000">
                          <a:solidFill>
                            <a:srgbClr val="222222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Average of squared prediction errors; penalizes large errors.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600"/>
                        </a:lnSpc>
                        <a:defRPr/>
                      </a:pPr>
                      <a:r>
                        <a:rPr lang="en-US" sz="3000" b="true">
                          <a:solidFill>
                            <a:srgbClr val="222222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RMSE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600"/>
                        </a:lnSpc>
                        <a:defRPr/>
                      </a:pPr>
                      <a:r>
                        <a:rPr lang="en-US" sz="3000">
                          <a:solidFill>
                            <a:srgbClr val="222222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Square root of MSE, in the same units as CLV.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600"/>
                        </a:lnSpc>
                        <a:defRPr/>
                      </a:pPr>
                      <a:r>
                        <a:rPr lang="en-US" sz="3000" b="true">
                          <a:solidFill>
                            <a:srgbClr val="222222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R² Score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600"/>
                        </a:lnSpc>
                        <a:defRPr/>
                      </a:pPr>
                      <a:r>
                        <a:rPr lang="en-US" sz="3000">
                          <a:solidFill>
                            <a:srgbClr val="222222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Proportion of CLV variation explained by the model.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7280" y="640080"/>
            <a:ext cx="16093440" cy="1280160"/>
            <a:chOff x="0" y="0"/>
            <a:chExt cx="21457920" cy="17068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457920" cy="1706880"/>
            </a:xfrm>
            <a:custGeom>
              <a:avLst/>
              <a:gdLst/>
              <a:ahLst/>
              <a:cxnLst/>
              <a:rect r="r" b="b" t="t" l="l"/>
              <a:pathLst>
                <a:path h="1706880" w="21457920">
                  <a:moveTo>
                    <a:pt x="0" y="0"/>
                  </a:moveTo>
                  <a:lnTo>
                    <a:pt x="21457920" y="0"/>
                  </a:lnTo>
                  <a:lnTo>
                    <a:pt x="21457920" y="1706880"/>
                  </a:lnTo>
                  <a:lnTo>
                    <a:pt x="0" y="17068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4954" r="0" b="-194954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23825"/>
              <a:ext cx="21457920" cy="1830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 b="true">
                  <a:solidFill>
                    <a:srgbClr val="1F386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Results / Visualization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97280" y="2560320"/>
            <a:ext cx="5120640" cy="731520"/>
            <a:chOff x="0" y="0"/>
            <a:chExt cx="6827520" cy="975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827520" cy="975360"/>
            </a:xfrm>
            <a:custGeom>
              <a:avLst/>
              <a:gdLst/>
              <a:ahLst/>
              <a:cxnLst/>
              <a:rect r="r" b="b" t="t" l="l"/>
              <a:pathLst>
                <a:path h="975360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395" r="0" b="-86395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6827520" cy="10325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840"/>
                </a:lnSpc>
              </a:pPr>
              <a:r>
                <a:rPr lang="en-US" sz="3200" b="true">
                  <a:solidFill>
                    <a:srgbClr val="1F386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Actual vs Predicted CLV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583680" y="2560320"/>
            <a:ext cx="5120640" cy="731520"/>
            <a:chOff x="0" y="0"/>
            <a:chExt cx="6827520" cy="9753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827520" cy="975360"/>
            </a:xfrm>
            <a:custGeom>
              <a:avLst/>
              <a:gdLst/>
              <a:ahLst/>
              <a:cxnLst/>
              <a:rect r="r" b="b" t="t" l="l"/>
              <a:pathLst>
                <a:path h="975360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395" r="0" b="-86395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6827520" cy="10325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840"/>
                </a:lnSpc>
              </a:pPr>
              <a:r>
                <a:rPr lang="en-US" sz="3200" b="true">
                  <a:solidFill>
                    <a:srgbClr val="1F386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Residual Plot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2070080" y="2560320"/>
            <a:ext cx="5120640" cy="731520"/>
            <a:chOff x="0" y="0"/>
            <a:chExt cx="6827520" cy="97536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827520" cy="975360"/>
            </a:xfrm>
            <a:custGeom>
              <a:avLst/>
              <a:gdLst/>
              <a:ahLst/>
              <a:cxnLst/>
              <a:rect r="r" b="b" t="t" l="l"/>
              <a:pathLst>
                <a:path h="975360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395" r="0" b="-86395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57150"/>
              <a:ext cx="6827520" cy="10325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840"/>
                </a:lnSpc>
              </a:pPr>
              <a:r>
                <a:rPr lang="en-US" sz="3200" b="true">
                  <a:solidFill>
                    <a:srgbClr val="1F386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Elastic Net Coefficients</a:t>
              </a: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12059926" y="3930015"/>
            <a:ext cx="5940834" cy="3225792"/>
          </a:xfrm>
          <a:custGeom>
            <a:avLst/>
            <a:gdLst/>
            <a:ahLst/>
            <a:cxnLst/>
            <a:rect r="r" b="b" t="t" l="l"/>
            <a:pathLst>
              <a:path h="3225792" w="5940834">
                <a:moveTo>
                  <a:pt x="0" y="0"/>
                </a:moveTo>
                <a:lnTo>
                  <a:pt x="5940835" y="0"/>
                </a:lnTo>
                <a:lnTo>
                  <a:pt x="5940835" y="3225792"/>
                </a:lnTo>
                <a:lnTo>
                  <a:pt x="0" y="322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6216085" y="4148614"/>
            <a:ext cx="5853995" cy="2330622"/>
          </a:xfrm>
          <a:custGeom>
            <a:avLst/>
            <a:gdLst/>
            <a:ahLst/>
            <a:cxnLst/>
            <a:rect r="r" b="b" t="t" l="l"/>
            <a:pathLst>
              <a:path h="2330622" w="5853995">
                <a:moveTo>
                  <a:pt x="0" y="0"/>
                </a:moveTo>
                <a:lnTo>
                  <a:pt x="5853995" y="0"/>
                </a:lnTo>
                <a:lnTo>
                  <a:pt x="5853995" y="2330621"/>
                </a:lnTo>
                <a:lnTo>
                  <a:pt x="0" y="2330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769445" y="3787223"/>
            <a:ext cx="4117117" cy="3583612"/>
          </a:xfrm>
          <a:custGeom>
            <a:avLst/>
            <a:gdLst/>
            <a:ahLst/>
            <a:cxnLst/>
            <a:rect r="r" b="b" t="t" l="l"/>
            <a:pathLst>
              <a:path h="3583612" w="4117117">
                <a:moveTo>
                  <a:pt x="0" y="0"/>
                </a:moveTo>
                <a:lnTo>
                  <a:pt x="4117118" y="0"/>
                </a:lnTo>
                <a:lnTo>
                  <a:pt x="4117118" y="3583612"/>
                </a:lnTo>
                <a:lnTo>
                  <a:pt x="0" y="35836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7280" y="640080"/>
            <a:ext cx="16093440" cy="1280160"/>
            <a:chOff x="0" y="0"/>
            <a:chExt cx="21457920" cy="17068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457920" cy="1706880"/>
            </a:xfrm>
            <a:custGeom>
              <a:avLst/>
              <a:gdLst/>
              <a:ahLst/>
              <a:cxnLst/>
              <a:rect r="r" b="b" t="t" l="l"/>
              <a:pathLst>
                <a:path h="1706880" w="21457920">
                  <a:moveTo>
                    <a:pt x="0" y="0"/>
                  </a:moveTo>
                  <a:lnTo>
                    <a:pt x="21457920" y="0"/>
                  </a:lnTo>
                  <a:lnTo>
                    <a:pt x="21457920" y="1706880"/>
                  </a:lnTo>
                  <a:lnTo>
                    <a:pt x="0" y="17068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4954" r="0" b="-194954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23825"/>
              <a:ext cx="21457920" cy="1830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 b="true">
                  <a:solidFill>
                    <a:srgbClr val="1F386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Conclusion and Future Scope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97280" y="2194560"/>
            <a:ext cx="7680960" cy="731520"/>
            <a:chOff x="0" y="0"/>
            <a:chExt cx="10241280" cy="975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241280" cy="975360"/>
            </a:xfrm>
            <a:custGeom>
              <a:avLst/>
              <a:gdLst/>
              <a:ahLst/>
              <a:cxnLst/>
              <a:rect r="r" b="b" t="t" l="l"/>
              <a:pathLst>
                <a:path h="97536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4592" r="0" b="-154592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85725"/>
              <a:ext cx="10241280" cy="10610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 b="true">
                  <a:solidFill>
                    <a:srgbClr val="1F386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Conclusion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097280" y="3042285"/>
            <a:ext cx="7680960" cy="6284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23900" indent="-361950" lvl="1">
              <a:lnSpc>
                <a:spcPts val="3600"/>
              </a:lnSpc>
              <a:buFont typeface="Arial"/>
              <a:buChar char="•"/>
            </a:pPr>
            <a:r>
              <a:rPr lang="en-US" sz="3000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Transaction data can be converted into customer-level features.</a:t>
            </a:r>
          </a:p>
          <a:p>
            <a:pPr algn="l" marL="723900" indent="-361950" lvl="1">
              <a:lnSpc>
                <a:spcPts val="3600"/>
              </a:lnSpc>
              <a:buFont typeface="Arial"/>
              <a:buChar char="•"/>
            </a:pPr>
            <a:r>
              <a:rPr lang="en-US" sz="3000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Elastic Net Regression can predict future customer value.</a:t>
            </a:r>
          </a:p>
          <a:p>
            <a:pPr algn="l" marL="723900" indent="-361950" lvl="1">
              <a:lnSpc>
                <a:spcPts val="3600"/>
              </a:lnSpc>
              <a:buFont typeface="Arial"/>
              <a:buChar char="•"/>
            </a:pPr>
            <a:r>
              <a:rPr lang="en-US" sz="3000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The model helps analyze customer value from measurable behavior.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509760" y="2194560"/>
            <a:ext cx="7680960" cy="731520"/>
            <a:chOff x="0" y="0"/>
            <a:chExt cx="10241280" cy="97536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241280" cy="975360"/>
            </a:xfrm>
            <a:custGeom>
              <a:avLst/>
              <a:gdLst/>
              <a:ahLst/>
              <a:cxnLst/>
              <a:rect r="r" b="b" t="t" l="l"/>
              <a:pathLst>
                <a:path h="97536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4592" r="0" b="-154592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85725"/>
              <a:ext cx="10241280" cy="10610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 b="true">
                  <a:solidFill>
                    <a:srgbClr val="1F386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Future Scope</a:t>
              </a: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9509760" y="3042285"/>
            <a:ext cx="7680960" cy="6284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23900" indent="-361950" lvl="1">
              <a:lnSpc>
                <a:spcPts val="3600"/>
              </a:lnSpc>
              <a:buFont typeface="Arial"/>
              <a:buChar char="•"/>
            </a:pPr>
            <a:r>
              <a:rPr lang="en-US" sz="3000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Use larger datasets</a:t>
            </a:r>
          </a:p>
          <a:p>
            <a:pPr algn="l" marL="723900" indent="-361950" lvl="1">
              <a:lnSpc>
                <a:spcPts val="3600"/>
              </a:lnSpc>
              <a:buFont typeface="Arial"/>
              <a:buChar char="•"/>
            </a:pPr>
            <a:r>
              <a:rPr lang="en-US" sz="3000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Add more behavioral features</a:t>
            </a:r>
          </a:p>
          <a:p>
            <a:pPr algn="l" marL="723900" indent="-361950" lvl="1">
              <a:lnSpc>
                <a:spcPts val="3600"/>
              </a:lnSpc>
              <a:buFont typeface="Arial"/>
              <a:buChar char="•"/>
            </a:pPr>
            <a:r>
              <a:rPr lang="en-US" sz="3000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Compare additional ML algorithms</a:t>
            </a:r>
          </a:p>
          <a:p>
            <a:pPr algn="l" marL="723900" indent="-361950" lvl="1">
              <a:lnSpc>
                <a:spcPts val="3600"/>
              </a:lnSpc>
              <a:buFont typeface="Arial"/>
              <a:buChar char="•"/>
            </a:pPr>
            <a:r>
              <a:rPr lang="en-US" sz="3000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Deploy as a web application</a:t>
            </a:r>
          </a:p>
          <a:p>
            <a:pPr algn="l" marL="723900" indent="-361950" lvl="1">
              <a:lnSpc>
                <a:spcPts val="3600"/>
              </a:lnSpc>
              <a:buFont typeface="Arial"/>
              <a:buChar char="•"/>
            </a:pPr>
            <a:r>
              <a:rPr lang="en-US" sz="3000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Integrate real-time customer data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80160" y="2926080"/>
            <a:ext cx="15727680" cy="4389120"/>
            <a:chOff x="0" y="0"/>
            <a:chExt cx="20970240" cy="58521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970239" cy="5852160"/>
            </a:xfrm>
            <a:custGeom>
              <a:avLst/>
              <a:gdLst/>
              <a:ahLst/>
              <a:cxnLst/>
              <a:rect r="r" b="b" t="t" l="l"/>
              <a:pathLst>
                <a:path h="5852160" w="20970239">
                  <a:moveTo>
                    <a:pt x="0" y="0"/>
                  </a:moveTo>
                  <a:lnTo>
                    <a:pt x="20970239" y="0"/>
                  </a:lnTo>
                  <a:lnTo>
                    <a:pt x="20970239" y="5852160"/>
                  </a:lnTo>
                  <a:lnTo>
                    <a:pt x="0" y="5852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821" r="0" b="-19821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0"/>
              <a:ext cx="20970240" cy="6042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0559"/>
                </a:lnSpc>
              </a:pPr>
              <a:r>
                <a:rPr lang="en-US" sz="8799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Thank You</a:t>
              </a:r>
            </a:p>
            <a:p>
              <a:pPr algn="ctr">
                <a:lnSpc>
                  <a:spcPts val="6720"/>
                </a:lnSpc>
              </a:p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DAHWgAxFfDA</dc:identifier>
  <dcterms:modified xsi:type="dcterms:W3CDTF">2011-08-01T06:04:30Z</dcterms:modified>
  <cp:revision>1</cp:revision>
  <dc:title>ML_ppt.pptx</dc:title>
</cp:coreProperties>
</file>